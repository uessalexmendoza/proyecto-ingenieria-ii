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Canva Sans" panose="020B0604020202020204" charset="0"/>
      <p:regular r:id="rId30"/>
    </p:embeddedFont>
    <p:embeddedFont>
      <p:font typeface="Canva Sa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TextBox 3"/>
          <p:cNvSpPr txBox="1"/>
          <p:nvPr/>
        </p:nvSpPr>
        <p:spPr>
          <a:xfrm>
            <a:off x="2602302" y="-95250"/>
            <a:ext cx="15685698" cy="114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comunitaria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conectar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acciones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solidarias</a:t>
            </a:r>
            <a:endParaRPr lang="en-US" sz="3300" dirty="0">
              <a:solidFill>
                <a:srgbClr val="FF575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</a:t>
            </a:r>
            <a:r>
              <a:rPr lang="en-US" sz="3300" b="1" dirty="0" err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Solidario</a:t>
            </a:r>
            <a:endParaRPr lang="en-US" sz="3300" b="1" dirty="0">
              <a:solidFill>
                <a:srgbClr val="FF575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969848" y="3845724"/>
            <a:ext cx="4741805" cy="774770"/>
            <a:chOff x="0" y="0"/>
            <a:chExt cx="2487278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87278" cy="406400"/>
            </a:xfrm>
            <a:custGeom>
              <a:avLst/>
              <a:gdLst/>
              <a:ahLst/>
              <a:cxnLst/>
              <a:rect l="l" t="t" r="r" b="b"/>
              <a:pathLst>
                <a:path w="2487278" h="406400">
                  <a:moveTo>
                    <a:pt x="2284078" y="0"/>
                  </a:moveTo>
                  <a:cubicBezTo>
                    <a:pt x="2396303" y="0"/>
                    <a:pt x="2487278" y="90976"/>
                    <a:pt x="2487278" y="203200"/>
                  </a:cubicBezTo>
                  <a:cubicBezTo>
                    <a:pt x="2487278" y="315424"/>
                    <a:pt x="2396303" y="406400"/>
                    <a:pt x="228407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66675" cap="sq">
              <a:gradFill>
                <a:gsLst>
                  <a:gs pos="0">
                    <a:srgbClr val="2A74B2">
                      <a:alpha val="100000"/>
                    </a:srgbClr>
                  </a:gs>
                  <a:gs pos="100000">
                    <a:srgbClr val="244685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87278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Ing. Victoria García Velásquez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98179" y="2917469"/>
            <a:ext cx="3303998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Grupo No IV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0071" y="7046630"/>
            <a:ext cx="5159481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05 de spetiembre  del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49265" y="1192530"/>
            <a:ext cx="9789469" cy="85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1"/>
              </a:lnSpc>
            </a:pPr>
            <a:r>
              <a:rPr lang="en-US" sz="6599" b="1" spc="-184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Ingeniería de Software II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51141" y="2218334"/>
            <a:ext cx="6385719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 spc="-168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Sprint 1 y Sprint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6366528"/>
            <a:ext cx="4393501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PERIODO EN LINEA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98179" y="3581044"/>
            <a:ext cx="4993072" cy="410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Alex Mendoza Morante </a:t>
            </a:r>
          </a:p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Víctor Tello Bravo</a:t>
            </a:r>
          </a:p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Kevin Carriel Bonoso</a:t>
            </a:r>
          </a:p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Mario Luzardo Fierro</a:t>
            </a:r>
          </a:p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Luis Ramírez Conejo </a:t>
            </a:r>
          </a:p>
          <a:p>
            <a:pPr algn="just">
              <a:lnSpc>
                <a:spcPts val="5490"/>
              </a:lnSpc>
            </a:pPr>
            <a:r>
              <a:rPr lang="en-US" sz="3000" dirty="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Luis Rodríguez Barrera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TextBox 3"/>
          <p:cNvSpPr txBox="1"/>
          <p:nvPr/>
        </p:nvSpPr>
        <p:spPr>
          <a:xfrm>
            <a:off x="2602302" y="-95250"/>
            <a:ext cx="15685698" cy="114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comunitaria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conectar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acciones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solidarias</a:t>
            </a:r>
            <a:endParaRPr lang="en-US" sz="3300" dirty="0">
              <a:solidFill>
                <a:srgbClr val="FF575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</a:t>
            </a:r>
            <a:r>
              <a:rPr lang="en-US" sz="3300" b="1" dirty="0" err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Solidario</a:t>
            </a:r>
            <a:endParaRPr lang="en-US" sz="3300" b="1" dirty="0">
              <a:solidFill>
                <a:srgbClr val="FF575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10042" y="1172703"/>
            <a:ext cx="13549158" cy="58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Caso de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estudio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plataforma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comunitaria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asistencia</a:t>
            </a:r>
            <a:endParaRPr lang="en-US" sz="3499" b="1" dirty="0">
              <a:solidFill>
                <a:srgbClr val="051A4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133952"/>
            <a:ext cx="7547050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Barrio Solidario es una propuesta de plataforma web orientada a conectar personas que necesitan apoyo con voluntarios e instituciones dispuestas a colaborar.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La solución busca organizar digitalmente el proceso de asistencia comunitaria, desde la identificación de una necesidad hasta su atención y seguimiento.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65875" y="2133952"/>
            <a:ext cx="8060531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Ámbito del caso: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Apoyo a adultos mayores.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Participación de familiares y cuidadores.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Colaboración de voluntarios.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Coordinación con instituciones aliadas.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Registro y trazabilidad de las acciones.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Mensaje destacado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36125" y="6982888"/>
            <a:ext cx="12603956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Una comunidad conectada puede responder de manera más rápida, organizada y segura.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Victor Tello - Product Owner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TextBox 3"/>
          <p:cNvSpPr txBox="1"/>
          <p:nvPr/>
        </p:nvSpPr>
        <p:spPr>
          <a:xfrm>
            <a:off x="2602302" y="-95250"/>
            <a:ext cx="15685698" cy="1144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comunitaria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conectar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acciones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solidarias</a:t>
            </a:r>
            <a:endParaRPr lang="en-US" sz="3300" dirty="0">
              <a:solidFill>
                <a:srgbClr val="FF575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</a:t>
            </a:r>
            <a:r>
              <a:rPr lang="en-US" sz="3300" b="1" dirty="0" err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Solidario</a:t>
            </a:r>
            <a:endParaRPr lang="en-US" sz="3300" b="1" dirty="0">
              <a:solidFill>
                <a:srgbClr val="FF575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23039" y="1172703"/>
            <a:ext cx="13507561" cy="58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coordinar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ayuda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forma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segura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organizada</a:t>
            </a:r>
            <a:endParaRPr lang="en-US" sz="3499" b="1" dirty="0">
              <a:solidFill>
                <a:srgbClr val="051A4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133952"/>
            <a:ext cx="5671164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En muchas comunidades existen personas que necesitan asistencia y ciudadanos dispuestos a colaborar. Sin embargo, la coordinación suele realizarse mediante llamadas, mensajes informales o contactos personales.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3579" y="2133952"/>
            <a:ext cx="10664421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Problemas identificados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Dificultad para localizar voluntarios disponibles.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Información distribuida en diferentes medios.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Falta de seguimiento de las ayudas solicitadas.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Ausencia de criterios claros de asignación.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Poca trazabilidad sobre las acciones realizadas.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Riesgos relacionados con identidad, privacidad y seguridad.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Dificultad para medir el impacto comunitario.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98979" y="7230462"/>
            <a:ext cx="13052078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ayuda puede existir, pero no siempre llega de manera oportuna, verificable y coordinada.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Victor Tello - Product Owner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2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Victor Tello - Product Owner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02302" y="-95250"/>
            <a:ext cx="15685698" cy="1144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comunitaria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conectar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acciones</a:t>
            </a:r>
            <a:r>
              <a:rPr lang="en-US" sz="3300" dirty="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dirty="0" err="1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solidarias</a:t>
            </a:r>
            <a:endParaRPr lang="en-US" sz="3300" dirty="0">
              <a:solidFill>
                <a:srgbClr val="FF575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</a:t>
            </a:r>
            <a:r>
              <a:rPr lang="en-US" sz="3300" b="1" dirty="0" err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Solidario</a:t>
            </a:r>
            <a:endParaRPr lang="en-US" sz="3300" b="1" dirty="0">
              <a:solidFill>
                <a:srgbClr val="FF575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28027" y="1172703"/>
            <a:ext cx="8892773" cy="587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Visión,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</a:t>
            </a:r>
            <a:r>
              <a:rPr lang="en-US" sz="3499" b="1" dirty="0" err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propuesta</a:t>
            </a:r>
            <a:r>
              <a:rPr lang="en-US" sz="3499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valor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8704" y="2133952"/>
            <a:ext cx="8586314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Visión.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Consolidar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plataforma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comunitaria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accesible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segura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facilite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coordinación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ayudas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entre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adultos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mayores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cuidadores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voluntarios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 e </a:t>
            </a:r>
            <a:r>
              <a:rPr lang="en-US" sz="3000" dirty="0" err="1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instituciones</a:t>
            </a:r>
            <a:r>
              <a:rPr lang="en-US" sz="3000" dirty="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14715" y="2133952"/>
            <a:ext cx="8009403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Propósito. </a:t>
            </a: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Organizar el apoyo comunitario mediante procesos que permitan registrar, coordinar, atender y dar seguimiento a las necesidades identificadas.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03500" y="8723324"/>
            <a:ext cx="12280999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 transforma la voluntad de ayudar en acciones organizadas y trazables.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48F8F499-CB1B-107C-FE46-77BC10582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63002"/>
              </p:ext>
            </p:extLst>
          </p:nvPr>
        </p:nvGraphicFramePr>
        <p:xfrm>
          <a:off x="914400" y="4405520"/>
          <a:ext cx="15621000" cy="41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9076">
                  <a:extLst>
                    <a:ext uri="{9D8B030D-6E8A-4147-A177-3AD203B41FA5}">
                      <a16:colId xmlns:a16="http://schemas.microsoft.com/office/drawing/2014/main" val="3738677628"/>
                    </a:ext>
                  </a:extLst>
                </a:gridCol>
                <a:gridCol w="11491924">
                  <a:extLst>
                    <a:ext uri="{9D8B030D-6E8A-4147-A177-3AD203B41FA5}">
                      <a16:colId xmlns:a16="http://schemas.microsoft.com/office/drawing/2014/main" val="101112816"/>
                    </a:ext>
                  </a:extLst>
                </a:gridCol>
              </a:tblGrid>
              <a:tr h="332634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Propuesta de valor</a:t>
                      </a:r>
                      <a:endParaRPr lang="es-EC" sz="3000" b="1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081890"/>
                  </a:ext>
                </a:extLst>
              </a:tr>
              <a:tr h="3326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Para</a:t>
                      </a:r>
                      <a:endParaRPr lang="es-EC" sz="3000" b="1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Barrio Solidario permitirá</a:t>
                      </a:r>
                      <a:endParaRPr lang="es-EC" sz="3000" b="1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728542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Adultos mayores</a:t>
                      </a:r>
                      <a:endParaRPr lang="es-EC" sz="3000" b="0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Solicitar apoyo mediante un proceso sencillo y acompañado.</a:t>
                      </a:r>
                      <a:endParaRPr lang="es-EC" sz="3000" b="0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65097"/>
                  </a:ext>
                </a:extLst>
              </a:tr>
              <a:tr h="332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Familiares y cuidadores</a:t>
                      </a:r>
                      <a:endParaRPr lang="es-EC" sz="3000" b="0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Gestionar solicitudes en representación del adulto mayor.</a:t>
                      </a:r>
                      <a:endParaRPr lang="es-EC" sz="3000" b="0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40674"/>
                  </a:ext>
                </a:extLst>
              </a:tr>
              <a:tr h="3484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Voluntarios</a:t>
                      </a:r>
                      <a:endParaRPr lang="es-EC" sz="3000" b="0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Identificar oportunidades de ayuda según disponibilidad y ubicación.</a:t>
                      </a:r>
                      <a:endParaRPr lang="es-EC" sz="3000" b="0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40013"/>
                  </a:ext>
                </a:extLst>
              </a:tr>
              <a:tr h="332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Instituciones</a:t>
                      </a:r>
                      <a:endParaRPr lang="es-EC" sz="3000" b="0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Coordinar y canalizar acciones comunitarias.</a:t>
                      </a:r>
                      <a:endParaRPr lang="es-EC" sz="3000" b="0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613770"/>
                  </a:ext>
                </a:extLst>
              </a:tr>
              <a:tr h="3326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>
                          <a:effectLst/>
                          <a:latin typeface="Canva Sans" panose="020B0604020202020204" charset="0"/>
                        </a:rPr>
                        <a:t>Administradores</a:t>
                      </a:r>
                      <a:endParaRPr lang="es-EC" sz="3000" b="0" i="0" u="none" strike="noStrike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3000" u="none" strike="noStrike" dirty="0">
                          <a:effectLst/>
                          <a:latin typeface="Canva Sans" panose="020B0604020202020204" charset="0"/>
                        </a:rPr>
                        <a:t>Mantener control, seguridad, trazabilidad e indicadores.</a:t>
                      </a:r>
                      <a:endParaRPr lang="es-EC" sz="3000" b="0" i="0" u="none" strike="noStrike" dirty="0">
                        <a:solidFill>
                          <a:srgbClr val="051A4B"/>
                        </a:solidFill>
                        <a:effectLst/>
                        <a:latin typeface="Canva Sans" panose="020B0604020202020204" charset="0"/>
                      </a:endParaRPr>
                    </a:p>
                  </a:txBody>
                  <a:tcPr marL="4224" marR="4224" marT="4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1363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Victor Tello - Product Owner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4205" y="1172703"/>
            <a:ext cx="10111383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Interesados, actores y necesidades principales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9735" y="1875857"/>
            <a:ext cx="6187230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Actores previstos del sistema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Visitante.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Adulto mayor.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Familiar o cuidador.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Voluntario.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Institución aliada.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Coordinador.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Moderador.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Administrador.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4245" y="6567745"/>
            <a:ext cx="17175410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Nota. </a:t>
            </a:r>
            <a:r>
              <a:rPr lang="en-US" sz="24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Los actores corresponden a la visión integral del producto. En el MVP se implementarán inicialmente el portal público, el registro, el acceso, la recuperación de contraseña y el panel principal.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146" y="7632595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 integra a beneficiarios, voluntarios, instituciones y equipo académico alrededor de un mismo propósito: organizar la ayuda comunitaria.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E725703A-85DF-4877-88F3-41733A1ACAC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8229600" cy="31260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9446">
                  <a:extLst>
                    <a:ext uri="{9D8B030D-6E8A-4147-A177-3AD203B41FA5}">
                      <a16:colId xmlns:a16="http://schemas.microsoft.com/office/drawing/2014/main" val="3060104995"/>
                    </a:ext>
                  </a:extLst>
                </a:gridCol>
                <a:gridCol w="5420154">
                  <a:extLst>
                    <a:ext uri="{9D8B030D-6E8A-4147-A177-3AD203B41FA5}">
                      <a16:colId xmlns:a16="http://schemas.microsoft.com/office/drawing/2014/main" val="2034702416"/>
                    </a:ext>
                  </a:extLst>
                </a:gridCol>
              </a:tblGrid>
              <a:tr h="327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800" u="none" strike="noStrike">
                          <a:effectLst/>
                        </a:rPr>
                        <a:t>Interesado</a:t>
                      </a:r>
                      <a:endParaRPr lang="es-EC" sz="1800" b="1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800" u="none" strike="noStrike">
                          <a:effectLst/>
                        </a:rPr>
                        <a:t>Interés principal</a:t>
                      </a:r>
                      <a:endParaRPr lang="es-EC" sz="1800" b="1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2539974281"/>
                  </a:ext>
                </a:extLst>
              </a:tr>
              <a:tr h="3902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Ing. Victoria García Velásquez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Orientar y evaluar el desarrollo académico del proyecto.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728845308"/>
                  </a:ext>
                </a:extLst>
              </a:tr>
              <a:tr h="3834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Equipo del proyecto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Diseñar y construir una solución funcional utilizando Scrum.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1804915405"/>
                  </a:ext>
                </a:extLst>
              </a:tr>
              <a:tr h="5880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Adultos mayores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Acceder a mecanismos sencillos y seguros para solicitar apoyo.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197516391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Familiares y cuidadores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Actuar en representación del adulto mayor.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3334404443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Voluntarios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Participar en actividades de ayuda organizadas.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137021046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Instituciones aliadas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Coordinar o canalizar acciones comunitarias.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3284678302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>
                          <a:effectLst/>
                        </a:rPr>
                        <a:t>Comunidad</a:t>
                      </a:r>
                      <a:endParaRPr lang="es-EC" sz="1400" b="0" i="0" u="none" strike="noStrike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400" u="none" strike="noStrike" dirty="0">
                          <a:effectLst/>
                        </a:rPr>
                        <a:t>Contar con una red organizada de colaboración y apoyo.</a:t>
                      </a:r>
                      <a:endParaRPr lang="es-EC" sz="1400" b="0" i="0" u="none" strike="noStrike" dirty="0">
                        <a:solidFill>
                          <a:srgbClr val="051A4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20" marR="5420" marT="5420" marB="0" anchor="b"/>
                </a:tc>
                <a:extLst>
                  <a:ext uri="{0D108BD9-81ED-4DB2-BD59-A6C34878D82A}">
                    <a16:rowId xmlns:a16="http://schemas.microsoft.com/office/drawing/2014/main" val="14941073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1316146" y="1941054"/>
          <a:ext cx="565785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781800" imgH="5524500" progId="Excel.Sheet.12">
                  <p:embed/>
                </p:oleObj>
              </mc:Choice>
              <mc:Fallback>
                <p:oleObj name="Worksheet" r:id="rId3" imgW="6781800" imgH="5524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6146" y="1941054"/>
                        <a:ext cx="565785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52249" y="1172703"/>
            <a:ext cx="8795296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equipo Scrum y sus responsabilidades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146" y="7632595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distribución de responsabilidades permitió abordar el proyecto desde las perspectivas funcional, técnica, visual y de calidad.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85500" y="1172703"/>
            <a:ext cx="7728793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 y planificación del Sprint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6146" y="7632595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Sprint 1 convirtió una idea social en un proyecto organizado, documentado y preparado para su refinamiento.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0688" y="1839780"/>
            <a:ext cx="15846623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Definir el caso de estudio, organizar al equipo y construir la base funcional y documental de Barrio Solidario.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8881" y="2276833"/>
            <a:ext cx="8789194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Actividades principales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Seleccionar y presentar el caso de estudio.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Revisar la plantilla del Documento de Visión.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Identificar actores e interesados.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Definir requisitos funcionales.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Definir requisitos no funcionales.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Elaborar las primeras historias de 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Diseñar el modelo inicial del sistema.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Identificar al Scrum Master y al equipo.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Iniciar el Product Backlog en Jira.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405014" y="1941054"/>
          <a:ext cx="377190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21200" imgH="4521200" progId="Excel.Sheet.12">
                  <p:embed/>
                </p:oleObj>
              </mc:Choice>
              <mc:Fallback>
                <p:oleObj name="Worksheet" r:id="rId3" imgW="4521200" imgH="452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014" y="1941054"/>
                        <a:ext cx="377190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71075" y="1172703"/>
            <a:ext cx="11157645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Jira, repositorio y organización del Product Backlog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2043" y="7927474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Jira mantiene el seguimiento operativo y el repositorio conserva la evidencia documental del proyecto.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0643" y="1883904"/>
            <a:ext cx="5664279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Organización inicial en Jira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Scrum Master identificado.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Equipo registrado.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Épicas creadas.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Historias de usuario incorporadas.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Actividades asignadas.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Backlog inicial organizado.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3205720" y="9534884"/>
            <a:ext cx="4741805" cy="656866"/>
            <a:chOff x="0" y="0"/>
            <a:chExt cx="2487278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87278" cy="344554"/>
            </a:xfrm>
            <a:custGeom>
              <a:avLst/>
              <a:gdLst/>
              <a:ahLst/>
              <a:cxnLst/>
              <a:rect l="l" t="t" r="r" b="b"/>
              <a:pathLst>
                <a:path w="2487278" h="344554">
                  <a:moveTo>
                    <a:pt x="2284078" y="0"/>
                  </a:moveTo>
                  <a:cubicBezTo>
                    <a:pt x="2396303" y="0"/>
                    <a:pt x="2487278" y="77131"/>
                    <a:pt x="2487278" y="172277"/>
                  </a:cubicBezTo>
                  <a:cubicBezTo>
                    <a:pt x="2487278" y="267423"/>
                    <a:pt x="2396303" y="344554"/>
                    <a:pt x="2284078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87278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Ramírez - Backend y datos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05269" y="1172703"/>
            <a:ext cx="9289256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Requisitos funcionales y reglas del negocio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2043" y="7927474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Los requisitos funcionales describen qué debe hacer Barrio Solidario y las reglas establecen las condiciones bajo las cuales debe operar.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84" y="1883904"/>
            <a:ext cx="9814322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Funciones identificadas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Consultar información pública de Barrio Solidario.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Registrar usuarios según su tipo de participación.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Iniciar sesión y recuperar el acceso.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Gestionar perfiles de usuarios.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Registrar solicitudes de asistencia.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Permitir postulaciones de voluntarios.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Asignar y coordinar atenciones.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Registrar avances, mensajes e incidencias.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Confirmar y evaluar las atenciones.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Administrar usuarios, catálogos y reportes.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87767" y="1874379"/>
            <a:ext cx="8410907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Reglas iniciales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Cada solicitud deberá pertenecer a un adulto mayor.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Un cuidador necesitará autorización para actuar en representación del beneficiario.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Una solicitud solo podrá tener una asignación activa.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Toda atención deberá conservar trazabilidad.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Los datos sensibles solo estarán disponibles para usuarios autorizados.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Rodríguez - Calidad, pruebas y seguridad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3500395" y="1897764"/>
          <a:ext cx="3771900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029200" imgH="7543800" progId="Excel.Sheet.12">
                  <p:embed/>
                </p:oleObj>
              </mc:Choice>
              <mc:Fallback>
                <p:oleObj name="Worksheet" r:id="rId3" imgW="5029200" imgH="7543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0395" y="1897764"/>
                        <a:ext cx="3771900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54307" y="1172703"/>
            <a:ext cx="1039118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Requisitos no funcionales y atributos de calidad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2043" y="7927474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Una aplicación funcional no solo debe realizar operaciones: también debe ser segura, accesible, comprensible y confiable.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Kevin Carriel - Arquitecto de software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76867" y="1172703"/>
            <a:ext cx="1014606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inicial y contexto técnico de la solución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2043" y="7927474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diseño inicial organizó la solución en componentes relacionados, evitando que las funcionalidades se desarrollen de forma aislada.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6660" y="2041598"/>
            <a:ext cx="7370862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Componentes identificados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Portal público.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Módulo de registro y autenticación.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Panel del 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Gestión de perfiles.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Solicitudes de asistencia.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Postulaciones y asignaciones.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Coordinación y seguimiento.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Notificaciones y mensajes.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Administración, reportes y auditoría.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35647" y="2041598"/>
            <a:ext cx="6509313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Capas previstas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Presentación: páginas, formularios y paneles.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Lógica: reglas, validaciones y procesos.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Datos: usuarios, solicitudes, estados y trazabilidad.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Seguridad: autenticación, autorización y protección de información.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Mario Luzardo - Frontend, UI/UX  accesibilidad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226910" y="2269239"/>
          <a:ext cx="37719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75200" imgH="6032500" progId="Excel.Sheet.12">
                  <p:embed/>
                </p:oleObj>
              </mc:Choice>
              <mc:Fallback>
                <p:oleObj name="Worksheet" r:id="rId3" imgW="4775200" imgH="6032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910" y="2269239"/>
                        <a:ext cx="377190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5716" y="1172703"/>
            <a:ext cx="10228362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Experiencia esperada para cada tipo de usuario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2043" y="7927474"/>
            <a:ext cx="1480853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experiencia de Barrio Solidario debe adaptarse a las capacidades y responsabilidades de cada usuario.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4319" y="2212089"/>
            <a:ext cx="6053681" cy="461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Principios de diseño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Lenguaje sencillo.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Navegación consistente.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Acciones claramente identificadas.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Formularios breves y guiados.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Confirmaciones antes de acciones importantes.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1A4B"/>
                </a:solidFill>
                <a:latin typeface="Canva Sans"/>
                <a:ea typeface="Canva Sans"/>
                <a:cs typeface="Canva Sans"/>
                <a:sym typeface="Canva Sans"/>
              </a:rPr>
              <a:t>Diseño adaptable y accesible.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137" y="1172703"/>
            <a:ext cx="801752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Resultados y entregables del Sprint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3146" y="6679369"/>
            <a:ext cx="7925241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proyecto pasó de una idea general a una visión documentada, priorizada y compartida por todo el equipo.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8493" y="2097844"/>
            <a:ext cx="8489307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Resultados obtenidos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Caso de estudio seleccionado.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Necesidad y problemática definidas.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Equipo Scrum conformado.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Roles y responsabilidades asignados.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Actores e interesados identificados.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Requisitos funcionales documentados.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Requisitos no funcionales establecidos.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4523" y="2054029"/>
            <a:ext cx="8097887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endParaRPr/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Historias de usuario iniciales elaboradas.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Product Backlog creado.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Épicas organizadas.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Jira configurado para el equipo.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Modelo inicial del sistema definido.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Documento de Visión iniciado.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Repositorio documental estructurado.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1047" y="1172703"/>
            <a:ext cx="659770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 y alcance del Sprint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434" y="1684459"/>
            <a:ext cx="18000566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Consolidar la documentación del proyecto y desarrollar los modelos funcionales, técnicos y visuales necesarios para preparar la construcción de la aplicación.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434" y="2623624"/>
            <a:ext cx="10250433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 específicos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Revisar y actualizar el Acta de Constitución.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Validar los requisitos funcionales y no funcionales.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Refinar las historias de 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Descomponer las historias en actividades y unidades de trabajo.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Elaborar el diseño no gráfico del sistema.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Construir el modelo general de clases.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Definir atributos, métodos, relaciones y reglas.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Diseñar la navegación y los wireframes.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Mantener actualizados Jira y el repositorio documental.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Preparar el proyecto para iniciar su desarrollo.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33168" y="2623624"/>
            <a:ext cx="6814357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 esperado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Contar con una definición funcional, técnica y visual suficientemente clara para comenzar la construcción de la aplicación.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2456" y="7406449"/>
            <a:ext cx="775426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Sprint 2 conectó la visión del producto con el diseño necesario para comenzar su desarrollo.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136153" y="3224392"/>
          <a:ext cx="37719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75200" imgH="6032500" progId="Excel.Sheet.12">
                  <p:embed/>
                </p:oleObj>
              </mc:Choice>
              <mc:Fallback>
                <p:oleObj name="Worksheet" r:id="rId3" imgW="4775200" imgH="6032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153" y="3224392"/>
                        <a:ext cx="377190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27482" y="1172703"/>
            <a:ext cx="864483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Planificación y organización del Sprint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434" y="1684459"/>
            <a:ext cx="18000566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Consolidar la documentación funcional y técnica de Barrio Solidario, transformando los requisitos y las historias de usuario en actividades, modelos y diseños que sirvan como base para la construcción de la aplicación.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153" y="2623624"/>
            <a:ext cx="10250433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Lineas de tiempo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71458" y="2623624"/>
            <a:ext cx="7750132" cy="218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Periodo de trabajo</a:t>
            </a:r>
          </a:p>
          <a:p>
            <a:pPr marL="539754" lvl="1" indent="-269877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Tutoría y revisión inicial: 29 de agosto de 2026.</a:t>
            </a:r>
          </a:p>
          <a:p>
            <a:pPr marL="539754" lvl="1" indent="-269877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Inicio del Sprint: 30 de agosto de 2026.</a:t>
            </a:r>
          </a:p>
          <a:p>
            <a:pPr marL="539754" lvl="1" indent="-269877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Cierre del Sprint: 5 de septiembre de 2026.</a:t>
            </a:r>
          </a:p>
          <a:p>
            <a:pPr marL="539754" lvl="1" indent="-269877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Duración: una semana.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71458" y="4831439"/>
            <a:ext cx="7750132" cy="4375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Organización del trabajo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Revisar las observaciones de la tutoría.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Confirmar el objetivo del Sprint.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Seleccionar las actividades prioritarias.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Dividir las actividades en unidades de trabajo.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Asignar responsables según sus roles.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Registrar las tareas en Jira.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Elaborar y revisar los entregables.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Consolidar las evidencias.</a:t>
            </a:r>
          </a:p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Realizar la revisión y cierre del Sprint.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Ramírez - Backend y datos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14558" y="1172703"/>
            <a:ext cx="9470678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Historias, actividades y unidades de trabajo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434" y="1684459"/>
            <a:ext cx="18000566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Consolidar la documentación funcional y técnica de Barrio Solidario, transformando los requisitos y las historias de usuario en actividades, modelos y diseños que sirvan como base para la construcción de la aplicación.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434" y="2623624"/>
            <a:ext cx="10250433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Historias de usuario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Las historias fueron revisadas para verificar: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Actor responsable.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Necesidad funcional.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Valor esperado.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Criterios de aceptación.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Prioridad.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Relación con una épica.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Dependencias funcionales.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Definición de terminado.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33168" y="2623624"/>
            <a:ext cx="6814357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Unidades de trabajo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Cada actividad fue dividida en tareas concretas con: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Código de identificación.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Descripción.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Responsable.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Resultado esperado.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Estado de avance.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Evidencia documental.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Relación con Jira.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8665" y="8525929"/>
            <a:ext cx="1200526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Las unidades de trabajo transforman las historias de usuario en actividades verificables y asignables.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Kevin Carriel - Arquitecto de software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95918" y="1172703"/>
            <a:ext cx="8907959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no gráfico del modelo del sistema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434" y="1684459"/>
            <a:ext cx="18000566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Describir las clases del sistema antes de representarlas gráficamente, identificando su responsabilidad dentro de la solución.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434" y="2623624"/>
            <a:ext cx="10250433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Áreas funcionales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Catálogos, estados, roles y permisos.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Identidad y participantes.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Solicitudes y colaboración.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Coordinación y atención.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Evaluación, administración y control.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33168" y="2623624"/>
            <a:ext cx="6814357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Información definida por clase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Código.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Nombre.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Responsabilidad.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Atributos.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Ámbito de visibilidad.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Acciones.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Métodos.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Relaciones.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Cardinalidades.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8665" y="8525929"/>
            <a:ext cx="12005263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diseño no gráfico permite validar la lógica del sistema antes de construir los diagramas técnicos.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Kevin Carriel - Arquitecto de software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58388" y="1172703"/>
            <a:ext cx="818301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Modelo general de clases y relaciones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434" y="1684459"/>
            <a:ext cx="18000566" cy="81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Describir las clases del sistema antes de representarlas gráficamente, identificando su responsabilidad dentro de la solución.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434" y="2163276"/>
            <a:ext cx="4471494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Clases principales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AdultoMayor.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FamiliarCuidador.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Voluntario.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InstituciónAliada.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SolicitudAsistencia.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Postulación.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Auditoría.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0286" y="2547424"/>
            <a:ext cx="10021339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Relaciones esenciales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 adulto mayor puede registrar varias solicitudes.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 voluntario puede presentar varias postulaciones.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postulación aprobada puede originar una asignación.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asignación puede generar una o varias jornadas.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jornada puede registrar avances, incidencias y calificaciones.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Las acciones relevantes generan registros de auditoría.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7434" y="9447392"/>
            <a:ext cx="9144000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modelo de clases conecta los actores, procesos y reglas de Barrio Solidario dentro de una estructura común.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8928" y="2658576"/>
            <a:ext cx="3219301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Asignación.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Coordinación.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Jornada.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Notificación.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Incidencia.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Calificación.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986" y="6887676"/>
            <a:ext cx="8372478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Organización visual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modelo se dividió en diagramas más pequeños para facilitar su lectura e incorporación en el documento.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Ramírez - Backend y datos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6728" y="1172703"/>
            <a:ext cx="926633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Estructura de datos y persistencia prevista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2050" y="8566959"/>
            <a:ext cx="11503986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arquitectura definida reduce retrabajos y facilita que cada integrante desarrolle componentes compatibles.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42456" y="1883904"/>
            <a:ext cx="7805070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Consideraciones técnicas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Separación de responsabilidades.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Componentes reutilizables.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Control de acceso por roles.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Validación de datos.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Contraseñas protegidas mediante hash.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Arquitectura preparada para crecimiento.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Control de versiones mediante Git.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Seguimiento de actividades en Jira.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42050" y="1879855"/>
            <a:ext cx="9609031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Capas propuestas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Interfaz web: portal público, formularios y paneles.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Servicios de aplicación: autenticación, usuarios y procesos.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Lógica de negocio: validaciones, reglas y estados.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Persistencia: almacenamiento y consulta de información.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Seguridad: autenticación, autorización y auditoría.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Kevin Carriel - Arquitecto de software</a:t>
              </a:r>
            </a:p>
          </p:txBody>
        </p:sp>
      </p:grpSp>
      <p:graphicFrame>
        <p:nvGraphicFramePr>
          <p:cNvPr id="6" name="Object 6"/>
          <p:cNvGraphicFramePr/>
          <p:nvPr/>
        </p:nvGraphicFramePr>
        <p:xfrm>
          <a:off x="162964" y="2165605"/>
          <a:ext cx="37719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648200" imgH="5270500" progId="Excel.Sheet.12">
                  <p:embed/>
                </p:oleObj>
              </mc:Choice>
              <mc:Fallback>
                <p:oleObj name="Worksheet" r:id="rId3" imgW="46482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964" y="2165605"/>
                        <a:ext cx="37719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2057" y="1172703"/>
            <a:ext cx="10435679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Arquitectura y preparación técnica del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9996" y="7417222"/>
            <a:ext cx="11503986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 estructura de datos fue diseñada para mantener consistencia, relaciones claras y trazabilidad del proceso.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23112" y="2108455"/>
            <a:ext cx="6633772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Criterios definidos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Identificadores únicos.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Relaciones mediante claves.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Estados parametrizables.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Conservación del historial.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Restricción de datos sensibles.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Evitar eliminaciones que afecten la trazabilidad.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Mario Luzardo - Frontend, UI/UX  accesibilidad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7551" y="1172703"/>
            <a:ext cx="8484691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Navegación y flujo general de pantallas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97904" y="7988690"/>
            <a:ext cx="11503986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flujo de navegación asegura que cada usuario encuentre únicamente las funciones relacionadas con su participación.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98906" y="1930822"/>
            <a:ext cx="10748619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Flujos principales diseñados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Visitante → registro → inicio de sesión → panel.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Solicitante → solicitud → seguimiento → confirmación.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Voluntario → solicitudes → postulación → atención.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Coordinación → revisión → asignación → seguimiento.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Administración → usuarios → roles → control.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Usuario → perfil → notificaciones → soporte.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3843" y="1883904"/>
            <a:ext cx="6091535" cy="424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Estructura de navegación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Portal público.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Registro y acceso.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del solicitante.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del voluntario.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Coordinación y atención.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Moderación y administración.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Funciones comunes.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8187" y="6274222"/>
            <a:ext cx="1727442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Resultado.</a:t>
            </a: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 Se elaboró un diagrama de navegación para identificar cómo se conectan las pantallas y las acciones disponibles para cada rol.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Mario Luzardo - Frontend, UI/UX  accesibilidad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10825" y="1172703"/>
            <a:ext cx="8478143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Wireframes de los procesos principales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70701" y="7369597"/>
            <a:ext cx="11503986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Los wireframes transformaron los requisitos escritos en una experiencia de usuario visible y evaluable.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51451" y="1930822"/>
            <a:ext cx="7496074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Propósito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Los wireframes permitieron validar: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Distribución de la información.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Jerarquía de acciones.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Navegación.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Formularios requeridos.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Confirmaciones.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Mensajes de error.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Coherencia entre pantallas.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3843" y="1883904"/>
            <a:ext cx="7136606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Wireframes desarrollados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Portal público.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Inicio de sesión y registro.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Recuperación de contraseña.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del solicitante.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Gestión de solicitudes.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del voluntario.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Postulaciones y avances.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de coordinación.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Asignación y seguimiento.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Panel administrativo.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Gestión de usuarios y permisos.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Notificaciones, mensajes y soporte.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Mario Luzardo - Frontend, UI/UX  accesibilidad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16692" y="1172703"/>
            <a:ext cx="8666411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Identidad visual, colores y accesibilidad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0958" y="8095746"/>
            <a:ext cx="11503986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 accesibilidad es un requisito central porque Barrio Solidario debe ser comprensible para usuarios con diferentes capacidades y edades.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6590" y="1930822"/>
            <a:ext cx="9250936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Lineamientos de accesibilidad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Contraste suficiente entre texto y fondo.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Tipografía legible.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Tamaño mínimo adecuado.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Navegación mediante teclado.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Etiquetas visibles en formularios.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Mensajes comprensibles.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Acciones críticas con confirmación.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Diseño adaptable.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El color no será el único medio para comunicar estados.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62129" y="2839612"/>
            <a:ext cx="8116052" cy="3911602"/>
          </a:xfrm>
          <a:custGeom>
            <a:avLst/>
            <a:gdLst/>
            <a:ahLst/>
            <a:cxnLst/>
            <a:rect l="l" t="t" r="r" b="b"/>
            <a:pathLst>
              <a:path w="8116052" h="3911602">
                <a:moveTo>
                  <a:pt x="0" y="0"/>
                </a:moveTo>
                <a:lnTo>
                  <a:pt x="8116052" y="0"/>
                </a:lnTo>
                <a:lnTo>
                  <a:pt x="8116052" y="3911603"/>
                </a:lnTo>
                <a:lnTo>
                  <a:pt x="0" y="3911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49" t="-17448" r="-5405" b="-12633"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Ramírez - Backend y datosaccesibilidad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38309" y="1172703"/>
            <a:ext cx="8023175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Servicios y lógica funcional previstos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8676" y="8484022"/>
            <a:ext cx="12290648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 lógica funcional asegura que las acciones de la interfaz respeten las reglas definidas para el sistema.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6590" y="1930822"/>
            <a:ext cx="9250936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Validaciones previstas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Correos no duplicados.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Contraseñas seguras.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Estados válidos.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Usuarios autorizados.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Relaciones de cuidado vigentes.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asignación activa por solicitud.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Restricción de información sensible.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Conservación del historial.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6645" y="1930822"/>
            <a:ext cx="6689296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Servicios identificados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Registro de usuarios.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Autenticación.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Recuperación de contraseña.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Administración de perfiles.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Gestión de roles y permisos.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Registro de solicitudes.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Postulación de voluntarios.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Asignación y coordinación.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Mensajería y notificaciones.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Incidencias y evaluaciones.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Auditoría y reportes.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Rodríguez - Calidad, pruebas y seguridad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5118" y="1172703"/>
            <a:ext cx="10749558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Criterios de aceptación y definición de terminado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8676" y="8484022"/>
            <a:ext cx="12290648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“Terminado” significa que el resultado puede comprobarse, no solamente que la actividad fue realizada.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6590" y="1930822"/>
            <a:ext cx="9250936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Definición de terminado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unidad de trabajo se considera terminada cuando: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Cumple los criterios de aceptación.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Ha sido revisada por el responsable.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No presenta errores críticos.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Mantiene coherencia con los requisitos.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Se encuentra documentada.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Tiene evidencia registrada.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Su estado ha sido actualizado en Jira.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6645" y="1930822"/>
            <a:ext cx="6689296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Criterios de aceptación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Cada historia deberá indicar: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Condiciones de inicio.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Acción esperada.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Resultado verificable.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Validaciones.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Mensajes al 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Restricciones.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Comportamiento ante errores.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Rodríguez - Calidad, pruebas y seguridad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61164" y="5317597"/>
            <a:ext cx="5730799" cy="3223574"/>
          </a:xfrm>
          <a:custGeom>
            <a:avLst/>
            <a:gdLst/>
            <a:ahLst/>
            <a:cxnLst/>
            <a:rect l="l" t="t" r="r" b="b"/>
            <a:pathLst>
              <a:path w="5730799" h="3223574">
                <a:moveTo>
                  <a:pt x="0" y="0"/>
                </a:moveTo>
                <a:lnTo>
                  <a:pt x="5730799" y="0"/>
                </a:lnTo>
                <a:lnTo>
                  <a:pt x="5730799" y="3223575"/>
                </a:lnTo>
                <a:lnTo>
                  <a:pt x="0" y="322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7" name="Freeform 7"/>
          <p:cNvSpPr/>
          <p:nvPr/>
        </p:nvSpPr>
        <p:spPr>
          <a:xfrm>
            <a:off x="1233316" y="1941054"/>
            <a:ext cx="5986496" cy="3367404"/>
          </a:xfrm>
          <a:custGeom>
            <a:avLst/>
            <a:gdLst/>
            <a:ahLst/>
            <a:cxnLst/>
            <a:rect l="l" t="t" r="r" b="b"/>
            <a:pathLst>
              <a:path w="5986496" h="3367404">
                <a:moveTo>
                  <a:pt x="0" y="0"/>
                </a:moveTo>
                <a:lnTo>
                  <a:pt x="5986496" y="0"/>
                </a:lnTo>
                <a:lnTo>
                  <a:pt x="5986496" y="3367403"/>
                </a:lnTo>
                <a:lnTo>
                  <a:pt x="0" y="336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8" name="TextBox 8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9929" y="1172703"/>
            <a:ext cx="12339935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Trazabilidad entre requisitos, historias, clases y pantallas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98676" y="8484022"/>
            <a:ext cx="12290648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 trazabilidad permite demostrar que cada elemento diseñado responde a una necesidad identificada.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96590" y="1930822"/>
            <a:ext cx="9250936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Elementos relacionados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Necesidad del interesado.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Requisito funcional o no funcional.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Historia de usuario.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Épica del Product Backlog.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Actividad y unidad de trabajo.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Clase y método.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Pantalla o wireframe.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Criterio de aceptación.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Evidencia en Jira o repositorio.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Luis Rodríguez - Calidad, pruebas y seguridad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50624" y="1172703"/>
            <a:ext cx="9798546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Seguridad, privacidad y validación del diseño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8676" y="8484022"/>
            <a:ext cx="12290648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La seguridad y la privacidad se incorporaron desde el diseño, antes de iniciar la construcción del sistema.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5294" y="1930822"/>
            <a:ext cx="7042231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Referencias utilizadas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Ley Orgánica de Protección de Datos Personales.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Reglamento General de la LOPDP.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OWASP ASVS.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ISO/IEC 27001.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WCAG 2.2.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ISO/IEC 25010.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297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9583" y="1809750"/>
            <a:ext cx="9902873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1297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Controles considerados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Protección de contraseñas.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Recuperación de acceso mediante códigos temporales.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Control de acceso por roles y permisos.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Restricción de ubicaciones exactas.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Protección de datos personales.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Registro de acciones críticas.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Suspensión sin eliminación del historial.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Consentimiento para el tratamiento de datos.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Validación de entradas y formularios.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Mensajes que no expongan información sensible.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11133168" y="9582509"/>
            <a:ext cx="6814357" cy="656866"/>
            <a:chOff x="0" y="0"/>
            <a:chExt cx="3574420" cy="3445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74420" cy="344554"/>
            </a:xfrm>
            <a:custGeom>
              <a:avLst/>
              <a:gdLst/>
              <a:ahLst/>
              <a:cxnLst/>
              <a:rect l="l" t="t" r="r" b="b"/>
              <a:pathLst>
                <a:path w="3574420" h="344554">
                  <a:moveTo>
                    <a:pt x="3371220" y="0"/>
                  </a:moveTo>
                  <a:cubicBezTo>
                    <a:pt x="3483444" y="0"/>
                    <a:pt x="3574420" y="77131"/>
                    <a:pt x="3574420" y="172277"/>
                  </a:cubicBezTo>
                  <a:cubicBezTo>
                    <a:pt x="3574420" y="267423"/>
                    <a:pt x="3483444" y="344554"/>
                    <a:pt x="3371220" y="344554"/>
                  </a:cubicBezTo>
                  <a:lnTo>
                    <a:pt x="203200" y="344554"/>
                  </a:lnTo>
                  <a:cubicBezTo>
                    <a:pt x="90976" y="344554"/>
                    <a:pt x="0" y="267423"/>
                    <a:pt x="0" y="172277"/>
                  </a:cubicBezTo>
                  <a:cubicBezTo>
                    <a:pt x="0" y="77131"/>
                    <a:pt x="90976" y="0"/>
                    <a:pt x="203200" y="0"/>
                  </a:cubicBezTo>
                  <a:close/>
                </a:path>
              </a:pathLst>
            </a:custGeom>
            <a:ln w="47625" cap="sq">
              <a:solidFill>
                <a:srgbClr val="D8CEE6"/>
              </a:solidFill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74420" cy="392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1297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Alex Mendoza - Scrum Master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2302" y="-95250"/>
            <a:ext cx="15080307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Plataforma comunitaria para conectar necesidades con acciones solidarias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Barrio Solidario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1652" y="1172703"/>
            <a:ext cx="477649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51A4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Resultado del Sprint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84022"/>
            <a:ext cx="15924717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Una vez completada la visión y el diseño general, el equipo evaluó el tiempo disponible y definió un MVP que permita construir una aplicación funcional dentro de las cuatro semanas restantes.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6761" y="1883904"/>
            <a:ext cx="10893585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Acta de Constitución revisada.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Requisitos consolidados.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Historias de usuario refinadas.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Actividades y unidades de trabajo definidas.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Diseño no gráfico elaborado.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Modelo de clases actualizado.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Relaciones y reglas documentadas.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Navegación estructurada.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Wireframes desarrollados.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Lineamientos visuales y de accesibilidad definidos.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Criterios de calidad y seguridad establecidos.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1297F"/>
                </a:solidFill>
                <a:latin typeface="Canva Sans"/>
                <a:ea typeface="Canva Sans"/>
                <a:cs typeface="Canva Sans"/>
                <a:sym typeface="Canva Sans"/>
              </a:rPr>
              <a:t>Jira y repositorio documental actualizados.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3221</Words>
  <Application>Microsoft Office PowerPoint</Application>
  <PresentationFormat>Personalizado</PresentationFormat>
  <Paragraphs>523</Paragraphs>
  <Slides>28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Canva Sans</vt:lpstr>
      <vt:lpstr>Canva Sans Bold</vt:lpstr>
      <vt:lpstr>Arial</vt:lpstr>
      <vt:lpstr>Calibri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comunitaria para conectar necesidades con acciones solidarias</dc:title>
  <cp:lastModifiedBy>Alex Mendoza</cp:lastModifiedBy>
  <cp:revision>2</cp:revision>
  <dcterms:created xsi:type="dcterms:W3CDTF">2006-08-16T00:00:00Z</dcterms:created>
  <dcterms:modified xsi:type="dcterms:W3CDTF">2026-09-03T22:09:13Z</dcterms:modified>
  <dc:identifier>DAHUKv4-pmI</dc:identifier>
</cp:coreProperties>
</file>