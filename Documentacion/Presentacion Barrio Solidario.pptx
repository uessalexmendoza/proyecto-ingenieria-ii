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Documentación elaborada por el equipo del proyecto Barrio Solidario.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Documento de Visión y Acta de Constitución de Barrio Solidario.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Diagrama de contexto elaborado para el Documento de Visión de Barrio Solidario.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Product Backlog de Barrio Solidario: 9 épicas y 60 historias de usuario.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Acta de Constitución: asignación de roles del proyecto Barrio Solidario.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Sección de unidades de trabajo y subtareas del Sprint 2.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Plan de Trabajo ISII y acuerdos del Acta de Constitución.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Distribución acordada del Product Backlog entre los sprints 2, 3 y 4.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Captura del tablero Jira del proyecto UEES-ISII-GrupoIV proporcionada por el equipo.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Modelo conceptual del dominio elaborado para Barrio Solidario.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Síntesis de los entregables y planificación del proyecto Barrio Solidario.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26872BA9-B168-4139-A8A2-8679590C4F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7A1F2B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AFC57B-45DF-4231-87EC-0C4F1AEB0B59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7A1F2B"/>
                </a:solidFill>
              </a:defRPr>
            </a:pPr>
            <a:r>
              <a:rPr sz="1200" b="1">
                <a:solidFill>
                  <a:srgbClr val="7A1F2B"/>
                </a:solidFill>
              </a:rPr>
              <a:t>INGENIERÍA DE SOFTWARE II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E5818F6-586C-4B3C-A379-CDE10F3772E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172126"/>
                </a:solidFill>
              </a:defRPr>
            </a:pPr>
            <a:r>
              <a:rPr sz="4350" b="1">
                <a:solidFill>
                  <a:srgbClr val="172126"/>
                </a:solidFill>
              </a:rPr>
              <a:t>Barrio Solidario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2773867-6315-48F9-B072-4D1BF63749B8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7239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0">
                <a:solidFill>
                  <a:srgbClr val="5D6970"/>
                </a:solidFill>
              </a:defRPr>
            </a:pPr>
            <a:r>
              <a:rPr sz="2100" b="0">
                <a:solidFill>
                  <a:srgbClr val="5D6970"/>
                </a:solidFill>
              </a:rPr>
              <a:t>Plataforma comunitaria para coordinar ayuda segura, trazable y accesible para adultos mayores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FE45CF7-02EB-4609-A397-27B957CCB6B0}"/>
              </a:ext>
            </a:extLst>
          </p:cNvPr>
          <p:cNvSpPr>
            <a:spLocks noGrp="1"/>
          </p:cNvSpPr>
          <p:nvPr/>
        </p:nvSpPr>
        <p:spPr>
          <a:xfrm>
            <a:off x="8572500" y="1000125"/>
            <a:ext cx="2381250" cy="2381250"/>
          </a:xfrm>
          <a:prstGeom prst="rect">
            <a:avLst/>
          </a:prstGeom>
          <a:solidFill>
            <a:srgbClr val="F3ECEE"/>
          </a:solidFill>
          <a:ln w="9525"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219ED17-7FA7-49FC-A28D-AEF4C2E9395F}"/>
              </a:ext>
            </a:extLst>
          </p:cNvPr>
          <p:cNvSpPr>
            <a:spLocks noGrp="1"/>
          </p:cNvSpPr>
          <p:nvPr/>
        </p:nvSpPr>
        <p:spPr>
          <a:xfrm>
            <a:off x="8858250" y="1285875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5250" b="1">
                <a:solidFill>
                  <a:srgbClr val="7A1F2B"/>
                </a:solidFill>
              </a:defRPr>
            </a:pPr>
            <a:r>
              <a:rPr sz="5250" b="1">
                <a:solidFill>
                  <a:srgbClr val="7A1F2B"/>
                </a:solidFill>
              </a:rPr>
              <a:t>60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45559B2-FA93-4269-ACC0-F4B91C8D505E}"/>
              </a:ext>
            </a:extLst>
          </p:cNvPr>
          <p:cNvSpPr>
            <a:spLocks noGrp="1"/>
          </p:cNvSpPr>
          <p:nvPr/>
        </p:nvSpPr>
        <p:spPr>
          <a:xfrm>
            <a:off x="8858250" y="2190750"/>
            <a:ext cx="180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72126"/>
                </a:solidFill>
              </a:defRPr>
            </a:pPr>
            <a:r>
              <a:rPr sz="1500" b="1">
                <a:solidFill>
                  <a:srgbClr val="172126"/>
                </a:solidFill>
              </a:rPr>
              <a:t>historias de usuario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89E3E9D-0B55-4FF9-AC28-024E8899D23F}"/>
              </a:ext>
            </a:extLst>
          </p:cNvPr>
          <p:cNvSpPr>
            <a:spLocks noGrp="1"/>
          </p:cNvSpPr>
          <p:nvPr/>
        </p:nvSpPr>
        <p:spPr>
          <a:xfrm>
            <a:off x="8858250" y="28098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D6970"/>
                </a:solidFill>
              </a:defRPr>
            </a:pPr>
            <a:r>
              <a:rPr sz="1275" b="0">
                <a:solidFill>
                  <a:srgbClr val="5D6970"/>
                </a:solidFill>
              </a:rPr>
              <a:t>9 épicas  •  4 sprints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5135F4F-0D12-4F4A-B25E-E5840D688ADC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D6970"/>
                </a:solidFill>
              </a:defRPr>
            </a:pPr>
            <a:r>
              <a:rPr sz="1350" b="0">
                <a:solidFill>
                  <a:srgbClr val="5D6970"/>
                </a:solidFill>
              </a:rPr>
              <a:t>Grupo IV  •  Universidad Espíritu Santo  •  2026</a:t>
            </a:r>
          </a:p>
        </p:txBody>
      </p:sp>
    </p:spTree>
    <p:extLst>
      <p:ext uri="{BB962C8B-B14F-4D97-AF65-F5344CB8AC3E}">
        <p14:creationId xmlns:p14="http://schemas.microsoft.com/office/powerpoint/2010/main" val="158834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6B492735-5C05-4C39-AFB6-3437F19C28AC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7A1F2B"/>
                </a:solidFill>
              </a:defRPr>
            </a:pPr>
            <a:r>
              <a:rPr sz="1125" b="1">
                <a:solidFill>
                  <a:srgbClr val="7A1F2B"/>
                </a:solidFill>
              </a:rPr>
              <a:t>BARRIO SOLIDARIO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70F4AD6-6789-47A1-B070-AC0F3CCA98F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72126"/>
                </a:solidFill>
              </a:defRPr>
            </a:pPr>
            <a:r>
              <a:rPr sz="3000" b="1">
                <a:solidFill>
                  <a:srgbClr val="172126"/>
                </a:solidFill>
              </a:rPr>
              <a:t>La plataforma convierte una necesidad comunitaria en una atención coordinada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19B10E6-C0B1-44FC-9AA1-43DABAEF33C1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724C396-66DE-4296-BF29-C6FB1C8583D1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7A1F2B"/>
                </a:solidFill>
              </a:defRPr>
            </a:pPr>
            <a:r>
              <a:rPr sz="1200" b="1">
                <a:solidFill>
                  <a:srgbClr val="7A1F2B"/>
                </a:solidFill>
              </a:rPr>
              <a:t>PROBLEMA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7C91ADD-FFAC-4D0B-8EB0-E7B2B24334A1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762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172126"/>
                </a:solidFill>
              </a:defRPr>
            </a:pPr>
            <a:r>
              <a:rPr sz="1725" b="0">
                <a:solidFill>
                  <a:srgbClr val="172126"/>
                </a:solidFill>
              </a:rPr>
              <a:t>Adultos mayores pueden requerir apoyo cotidiano, pero la coordinación informal dificulta encontrar voluntarios confiables, dar seguimiento y conservar evidencia.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023A15B-469B-4A12-8B73-EDE23232F3E7}"/>
              </a:ext>
            </a:extLst>
          </p:cNvPr>
          <p:cNvSpPr>
            <a:spLocks noGrp="1"/>
          </p:cNvSpPr>
          <p:nvPr/>
        </p:nvSpPr>
        <p:spPr>
          <a:xfrm>
            <a:off x="6000750" y="1714500"/>
            <a:ext cx="19050" cy="37147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8C9097E-06A8-4CB7-AD90-82E981CDEA07}"/>
              </a:ext>
            </a:extLst>
          </p:cNvPr>
          <p:cNvSpPr>
            <a:spLocks noGrp="1"/>
          </p:cNvSpPr>
          <p:nvPr/>
        </p:nvSpPr>
        <p:spPr>
          <a:xfrm>
            <a:off x="6572250" y="17621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7A1F2B"/>
                </a:solidFill>
              </a:defRPr>
            </a:pPr>
            <a:r>
              <a:rPr sz="1200" b="1">
                <a:solidFill>
                  <a:srgbClr val="7A1F2B"/>
                </a:solidFill>
              </a:rPr>
              <a:t>RESPUESTA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DE78D-65FA-4365-9DCA-9C7D02379EC9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762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172126"/>
                </a:solidFill>
              </a:defRPr>
            </a:pPr>
            <a:r>
              <a:rPr sz="1725" b="0">
                <a:solidFill>
                  <a:srgbClr val="172126"/>
                </a:solidFill>
              </a:rPr>
              <a:t>Barrio Solidario organiza solicitudes, postulaciones, asignaciones y jornadas dentro de una plataforma con roles, notificaciones, incidencias y auditoría.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E2020FA-ABD8-4548-889C-1EF352ED63E5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0648950" cy="1000125"/>
          </a:xfrm>
          <a:prstGeom prst="rect">
            <a:avLst/>
          </a:prstGeom>
          <a:solidFill>
            <a:srgbClr val="F3ECEE"/>
          </a:solidFill>
          <a:ln w="9525"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0C56808-F823-48EB-AF21-BEF30F577DC4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7A1F2B"/>
                </a:solidFill>
              </a:defRPr>
            </a:pPr>
            <a:r>
              <a:rPr sz="1350" b="1">
                <a:solidFill>
                  <a:srgbClr val="7A1F2B"/>
                </a:solidFill>
              </a:rPr>
              <a:t>Propósito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EE7ACF5-EE6D-4DDE-8B58-16EC3A6EB120}"/>
              </a:ext>
            </a:extLst>
          </p:cNvPr>
          <p:cNvSpPr>
            <a:spLocks noGrp="1"/>
          </p:cNvSpPr>
          <p:nvPr/>
        </p:nvSpPr>
        <p:spPr>
          <a:xfrm>
            <a:off x="2381250" y="4238625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72126"/>
                </a:solidFill>
              </a:defRPr>
            </a:pPr>
            <a:r>
              <a:rPr sz="1875" b="1">
                <a:solidFill>
                  <a:srgbClr val="172126"/>
                </a:solidFill>
              </a:rPr>
              <a:t>Facilitar ayuda comunitaria sin reemplazar servicios médicos, familiares o de emergencia.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B62F86-303E-4443-9E9C-493C4198814C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D6970"/>
                </a:solidFill>
              </a:defRPr>
            </a:pPr>
            <a:r>
              <a:rPr sz="900" b="0">
                <a:solidFill>
                  <a:srgbClr val="5D6970"/>
                </a:solidFill>
              </a:rPr>
              <a:t>Ingeniería de Software II  •  Grupo IV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6B67A42-4F3C-4A90-B599-8DB9C0AFFFEA}"/>
              </a:ext>
            </a:extLst>
          </p:cNvPr>
          <p:cNvSpPr>
            <a:spLocks noGrp="1"/>
          </p:cNvSpPr>
          <p:nvPr/>
        </p:nvSpPr>
        <p:spPr>
          <a:xfrm>
            <a:off x="11125200" y="65246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D6970"/>
                </a:solidFill>
              </a:defRPr>
            </a:pPr>
            <a:r>
              <a:rPr sz="900" b="1">
                <a:solidFill>
                  <a:srgbClr val="5D69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3511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AA29412-8BDA-4208-A76D-625862E5E866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7A1F2B"/>
                </a:solidFill>
              </a:defRPr>
            </a:pPr>
            <a:r>
              <a:rPr sz="1125" b="1">
                <a:solidFill>
                  <a:srgbClr val="7A1F2B"/>
                </a:solidFill>
              </a:rPr>
              <a:t>BARRIO SOLIDARIO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F5F88AE-510D-427E-AAC7-CC1C932EC63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72126"/>
                </a:solidFill>
              </a:defRPr>
            </a:pPr>
            <a:r>
              <a:rPr sz="3000" b="1">
                <a:solidFill>
                  <a:srgbClr val="172126"/>
                </a:solidFill>
              </a:rPr>
              <a:t>El sistema articula participantes, control institucional y servicios externos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5169C10-2788-4271-93C8-D007D4650310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70989" y="1571625"/>
            <a:ext cx="6650023" cy="433387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62A49CB-C080-4B5A-AD4A-4C7AD4CA90D6}"/>
              </a:ext>
            </a:extLst>
          </p:cNvPr>
          <p:cNvSpPr>
            <a:spLocks noGrp="1"/>
          </p:cNvSpPr>
          <p:nvPr/>
        </p:nvSpPr>
        <p:spPr>
          <a:xfrm>
            <a:off x="1524000" y="5953125"/>
            <a:ext cx="914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5D6970"/>
                </a:solidFill>
              </a:defRPr>
            </a:pPr>
            <a:r>
              <a:rPr sz="1350" b="0">
                <a:solidFill>
                  <a:srgbClr val="5D6970"/>
                </a:solidFill>
              </a:rPr>
              <a:t>El diagrama muestra los intercambios generales; no representa módulos internos ni tecnología.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75A8DE5-9E11-4A3C-A96B-6476CC143B36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D6970"/>
                </a:solidFill>
              </a:defRPr>
            </a:pPr>
            <a:r>
              <a:rPr sz="900" b="0">
                <a:solidFill>
                  <a:srgbClr val="5D6970"/>
                </a:solidFill>
              </a:rPr>
              <a:t>Ingeniería de Software II  •  Grupo IV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8D89C0D-48EE-41C1-9767-55AFE83C4BB4}"/>
              </a:ext>
            </a:extLst>
          </p:cNvPr>
          <p:cNvSpPr>
            <a:spLocks noGrp="1"/>
          </p:cNvSpPr>
          <p:nvPr/>
        </p:nvSpPr>
        <p:spPr>
          <a:xfrm>
            <a:off x="11125200" y="65246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D6970"/>
                </a:solidFill>
              </a:defRPr>
            </a:pPr>
            <a:r>
              <a:rPr sz="900" b="1">
                <a:solidFill>
                  <a:srgbClr val="5D69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737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84841763-66E1-4559-9006-5EEDC34D0FA7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7A1F2B"/>
                </a:solidFill>
              </a:defRPr>
            </a:pPr>
            <a:r>
              <a:rPr sz="1125" b="1">
                <a:solidFill>
                  <a:srgbClr val="7A1F2B"/>
                </a:solidFill>
              </a:rPr>
              <a:t>BARRIO SOLIDARIO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5F77703-5674-4B6B-818F-4C0A547673C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72126"/>
                </a:solidFill>
              </a:defRPr>
            </a:pPr>
            <a:r>
              <a:rPr sz="3000" b="1">
                <a:solidFill>
                  <a:srgbClr val="172126"/>
                </a:solidFill>
              </a:rPr>
              <a:t>Nueve épicas cubren el ciclo completo de la ayuda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EE9A92F-F4B4-487F-BCEF-E936727B3428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99DB299-E76C-4A3C-99B4-10B98AD7EBCD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2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7A1F2B"/>
                </a:solidFill>
              </a:defRPr>
            </a:pPr>
            <a:r>
              <a:rPr sz="2400" b="1">
                <a:solidFill>
                  <a:srgbClr val="7A1F2B"/>
                </a:solidFill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1B98A9-8EBC-4AED-AA73-21DAEDF261BE}"/>
              </a:ext>
            </a:extLst>
          </p:cNvPr>
          <p:cNvSpPr>
            <a:spLocks noGrp="1"/>
          </p:cNvSpPr>
          <p:nvPr/>
        </p:nvSpPr>
        <p:spPr>
          <a:xfrm>
            <a:off x="1333500" y="1838325"/>
            <a:ext cx="26670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AF9F69D-F758-4DBF-8270-387E1A125302}"/>
              </a:ext>
            </a:extLst>
          </p:cNvPr>
          <p:cNvSpPr>
            <a:spLocks noGrp="1"/>
          </p:cNvSpPr>
          <p:nvPr/>
        </p:nvSpPr>
        <p:spPr>
          <a:xfrm>
            <a:off x="1333500" y="1990725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Portal público y participación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804B440-2925-4819-9BEE-1487E49BD93A}"/>
              </a:ext>
            </a:extLst>
          </p:cNvPr>
          <p:cNvSpPr>
            <a:spLocks noGrp="1"/>
          </p:cNvSpPr>
          <p:nvPr/>
        </p:nvSpPr>
        <p:spPr>
          <a:xfrm>
            <a:off x="685800" y="3000375"/>
            <a:ext cx="52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7A1F2B"/>
                </a:solidFill>
              </a:defRPr>
            </a:pPr>
            <a:r>
              <a:rPr sz="2400" b="1">
                <a:solidFill>
                  <a:srgbClr val="7A1F2B"/>
                </a:solidFill>
              </a:rPr>
              <a:t>02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8AB3421-A564-45A6-870E-57055B269648}"/>
              </a:ext>
            </a:extLst>
          </p:cNvPr>
          <p:cNvSpPr>
            <a:spLocks noGrp="1"/>
          </p:cNvSpPr>
          <p:nvPr/>
        </p:nvSpPr>
        <p:spPr>
          <a:xfrm>
            <a:off x="1333500" y="3076575"/>
            <a:ext cx="26670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C1D471F-23FD-4A37-AF4C-A010006A0794}"/>
              </a:ext>
            </a:extLst>
          </p:cNvPr>
          <p:cNvSpPr>
            <a:spLocks noGrp="1"/>
          </p:cNvSpPr>
          <p:nvPr/>
        </p:nvSpPr>
        <p:spPr>
          <a:xfrm>
            <a:off x="1333500" y="3228975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Registro y acceso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74BF9D0-ABB2-479B-BB74-6E1BD5294AFC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52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7A1F2B"/>
                </a:solidFill>
              </a:defRPr>
            </a:pPr>
            <a:r>
              <a:rPr sz="2400" b="1">
                <a:solidFill>
                  <a:srgbClr val="7A1F2B"/>
                </a:solidFill>
              </a:rPr>
              <a:t>03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E810B23-AF34-40B5-9804-CC1C55C9046E}"/>
              </a:ext>
            </a:extLst>
          </p:cNvPr>
          <p:cNvSpPr>
            <a:spLocks noGrp="1"/>
          </p:cNvSpPr>
          <p:nvPr/>
        </p:nvSpPr>
        <p:spPr>
          <a:xfrm>
            <a:off x="1333500" y="4314825"/>
            <a:ext cx="26670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3F9932E-C237-4C1A-88B4-E00C88F53DF7}"/>
              </a:ext>
            </a:extLst>
          </p:cNvPr>
          <p:cNvSpPr>
            <a:spLocks noGrp="1"/>
          </p:cNvSpPr>
          <p:nvPr/>
        </p:nvSpPr>
        <p:spPr>
          <a:xfrm>
            <a:off x="1333500" y="4467225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Perfiles y validación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A0A6204-4814-460D-8A7F-713419349879}"/>
              </a:ext>
            </a:extLst>
          </p:cNvPr>
          <p:cNvSpPr>
            <a:spLocks noGrp="1"/>
          </p:cNvSpPr>
          <p:nvPr/>
        </p:nvSpPr>
        <p:spPr>
          <a:xfrm>
            <a:off x="4400550" y="1762125"/>
            <a:ext cx="52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7A1F2B"/>
                </a:solidFill>
              </a:defRPr>
            </a:pPr>
            <a:r>
              <a:rPr sz="2400" b="1">
                <a:solidFill>
                  <a:srgbClr val="7A1F2B"/>
                </a:solidFill>
              </a:rPr>
              <a:t>04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06685FC-9040-4EE4-BA43-CAC5AE4AE659}"/>
              </a:ext>
            </a:extLst>
          </p:cNvPr>
          <p:cNvSpPr>
            <a:spLocks noGrp="1"/>
          </p:cNvSpPr>
          <p:nvPr/>
        </p:nvSpPr>
        <p:spPr>
          <a:xfrm>
            <a:off x="5048250" y="1838325"/>
            <a:ext cx="26670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BB212CF-BA1B-4849-A3F9-B0574F4D35E5}"/>
              </a:ext>
            </a:extLst>
          </p:cNvPr>
          <p:cNvSpPr>
            <a:spLocks noGrp="1"/>
          </p:cNvSpPr>
          <p:nvPr/>
        </p:nvSpPr>
        <p:spPr>
          <a:xfrm>
            <a:off x="5048250" y="1990725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Solicitudes de ayuda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1151179-2626-4476-B11F-5A2553F6F6E7}"/>
              </a:ext>
            </a:extLst>
          </p:cNvPr>
          <p:cNvSpPr>
            <a:spLocks noGrp="1"/>
          </p:cNvSpPr>
          <p:nvPr/>
        </p:nvSpPr>
        <p:spPr>
          <a:xfrm>
            <a:off x="4400550" y="3000375"/>
            <a:ext cx="52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7A1F2B"/>
                </a:solidFill>
              </a:defRPr>
            </a:pPr>
            <a:r>
              <a:rPr sz="2400" b="1">
                <a:solidFill>
                  <a:srgbClr val="7A1F2B"/>
                </a:solidFill>
              </a:rPr>
              <a:t>05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D9E313F-8549-477A-8B85-B9A9E3478CCD}"/>
              </a:ext>
            </a:extLst>
          </p:cNvPr>
          <p:cNvSpPr>
            <a:spLocks noGrp="1"/>
          </p:cNvSpPr>
          <p:nvPr/>
        </p:nvSpPr>
        <p:spPr>
          <a:xfrm>
            <a:off x="5048250" y="3076575"/>
            <a:ext cx="26670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3E1F172-0F2B-4A23-A871-C27B083C6731}"/>
              </a:ext>
            </a:extLst>
          </p:cNvPr>
          <p:cNvSpPr>
            <a:spLocks noGrp="1"/>
          </p:cNvSpPr>
          <p:nvPr/>
        </p:nvSpPr>
        <p:spPr>
          <a:xfrm>
            <a:off x="5048250" y="3228975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Postulación y asignación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D7BD9C1-0AED-453A-8D31-A2A58F9015D3}"/>
              </a:ext>
            </a:extLst>
          </p:cNvPr>
          <p:cNvSpPr>
            <a:spLocks noGrp="1"/>
          </p:cNvSpPr>
          <p:nvPr/>
        </p:nvSpPr>
        <p:spPr>
          <a:xfrm>
            <a:off x="4400550" y="4238625"/>
            <a:ext cx="52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7A1F2B"/>
                </a:solidFill>
              </a:defRPr>
            </a:pPr>
            <a:r>
              <a:rPr sz="2400" b="1">
                <a:solidFill>
                  <a:srgbClr val="7A1F2B"/>
                </a:solidFill>
              </a:rPr>
              <a:t>06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47C7AA3-0BD2-4517-B8AA-BA5552DDAD5F}"/>
              </a:ext>
            </a:extLst>
          </p:cNvPr>
          <p:cNvSpPr>
            <a:spLocks noGrp="1"/>
          </p:cNvSpPr>
          <p:nvPr/>
        </p:nvSpPr>
        <p:spPr>
          <a:xfrm>
            <a:off x="5048250" y="4314825"/>
            <a:ext cx="26670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66E9F53-011A-40F3-B11A-E0738F884DEA}"/>
              </a:ext>
            </a:extLst>
          </p:cNvPr>
          <p:cNvSpPr>
            <a:spLocks noGrp="1"/>
          </p:cNvSpPr>
          <p:nvPr/>
        </p:nvSpPr>
        <p:spPr>
          <a:xfrm>
            <a:off x="5048250" y="4467225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Coordinación y atención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5B4DFFA-69AE-4E90-A2FA-E2427D76BFB9}"/>
              </a:ext>
            </a:extLst>
          </p:cNvPr>
          <p:cNvSpPr>
            <a:spLocks noGrp="1"/>
          </p:cNvSpPr>
          <p:nvPr/>
        </p:nvSpPr>
        <p:spPr>
          <a:xfrm>
            <a:off x="8115300" y="1762125"/>
            <a:ext cx="52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7A1F2B"/>
                </a:solidFill>
              </a:defRPr>
            </a:pPr>
            <a:r>
              <a:rPr sz="2400" b="1">
                <a:solidFill>
                  <a:srgbClr val="7A1F2B"/>
                </a:solidFill>
              </a:rPr>
              <a:t>07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FEF1F02-10D1-440F-AEA8-611AFF209DEF}"/>
              </a:ext>
            </a:extLst>
          </p:cNvPr>
          <p:cNvSpPr>
            <a:spLocks noGrp="1"/>
          </p:cNvSpPr>
          <p:nvPr/>
        </p:nvSpPr>
        <p:spPr>
          <a:xfrm>
            <a:off x="8763000" y="1838325"/>
            <a:ext cx="26670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A692706-112C-4A52-8E5C-0F002CDFE1FC}"/>
              </a:ext>
            </a:extLst>
          </p:cNvPr>
          <p:cNvSpPr>
            <a:spLocks noGrp="1"/>
          </p:cNvSpPr>
          <p:nvPr/>
        </p:nvSpPr>
        <p:spPr>
          <a:xfrm>
            <a:off x="8763000" y="1990725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Notificaciones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454C0CA-F967-4C6C-9CFE-6F7A4A7165E4}"/>
              </a:ext>
            </a:extLst>
          </p:cNvPr>
          <p:cNvSpPr>
            <a:spLocks noGrp="1"/>
          </p:cNvSpPr>
          <p:nvPr/>
        </p:nvSpPr>
        <p:spPr>
          <a:xfrm>
            <a:off x="8115300" y="3000375"/>
            <a:ext cx="52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7A1F2B"/>
                </a:solidFill>
              </a:defRPr>
            </a:pPr>
            <a:r>
              <a:rPr sz="2400" b="1">
                <a:solidFill>
                  <a:srgbClr val="7A1F2B"/>
                </a:solidFill>
              </a:rPr>
              <a:t>08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93FBCA3-AA4D-496A-9563-A32D179D8152}"/>
              </a:ext>
            </a:extLst>
          </p:cNvPr>
          <p:cNvSpPr>
            <a:spLocks noGrp="1"/>
          </p:cNvSpPr>
          <p:nvPr/>
        </p:nvSpPr>
        <p:spPr>
          <a:xfrm>
            <a:off x="8763000" y="3076575"/>
            <a:ext cx="26670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8AF7274-32BE-4C42-82E6-EDBBABCD5FFA}"/>
              </a:ext>
            </a:extLst>
          </p:cNvPr>
          <p:cNvSpPr>
            <a:spLocks noGrp="1"/>
          </p:cNvSpPr>
          <p:nvPr/>
        </p:nvSpPr>
        <p:spPr>
          <a:xfrm>
            <a:off x="8763000" y="3228975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Evaluaciones e incidencias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EC185C8-8E26-4D8D-8AB6-7B2A56A5C8C4}"/>
              </a:ext>
            </a:extLst>
          </p:cNvPr>
          <p:cNvSpPr>
            <a:spLocks noGrp="1"/>
          </p:cNvSpPr>
          <p:nvPr/>
        </p:nvSpPr>
        <p:spPr>
          <a:xfrm>
            <a:off x="8115300" y="4238625"/>
            <a:ext cx="52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7A1F2B"/>
                </a:solidFill>
              </a:defRPr>
            </a:pPr>
            <a:r>
              <a:rPr sz="2400" b="1">
                <a:solidFill>
                  <a:srgbClr val="7A1F2B"/>
                </a:solidFill>
              </a:rPr>
              <a:t>09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BC28769-3971-450E-8F8D-F7700D47A3AF}"/>
              </a:ext>
            </a:extLst>
          </p:cNvPr>
          <p:cNvSpPr>
            <a:spLocks noGrp="1"/>
          </p:cNvSpPr>
          <p:nvPr/>
        </p:nvSpPr>
        <p:spPr>
          <a:xfrm>
            <a:off x="8763000" y="4314825"/>
            <a:ext cx="26670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6906C03-6EF9-441D-8500-DCB3350BED63}"/>
              </a:ext>
            </a:extLst>
          </p:cNvPr>
          <p:cNvSpPr>
            <a:spLocks noGrp="1"/>
          </p:cNvSpPr>
          <p:nvPr/>
        </p:nvSpPr>
        <p:spPr>
          <a:xfrm>
            <a:off x="8763000" y="4467225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Administración, reportes y auditoría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ABE15B0-39FA-43C5-9A11-559094097106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57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D6970"/>
                </a:solidFill>
              </a:defRPr>
            </a:pPr>
            <a:r>
              <a:rPr sz="1575" b="0">
                <a:solidFill>
                  <a:srgbClr val="5D6970"/>
                </a:solidFill>
              </a:rPr>
              <a:t>Cada épica agrupa historias relacionadas y mantiene la trazabilidad con los requisitos funcionales.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52442CA-A6CF-4580-823D-382A5D5185B4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D6970"/>
                </a:solidFill>
              </a:defRPr>
            </a:pPr>
            <a:r>
              <a:rPr sz="900" b="0">
                <a:solidFill>
                  <a:srgbClr val="5D6970"/>
                </a:solidFill>
              </a:rPr>
              <a:t>Ingeniería de Software II  •  Grupo IV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88B4267-E43D-4B0D-B8E0-9C4B690FA92A}"/>
              </a:ext>
            </a:extLst>
          </p:cNvPr>
          <p:cNvSpPr>
            <a:spLocks noGrp="1"/>
          </p:cNvSpPr>
          <p:nvPr/>
        </p:nvSpPr>
        <p:spPr>
          <a:xfrm>
            <a:off x="11125200" y="65246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D6970"/>
                </a:solidFill>
              </a:defRPr>
            </a:pPr>
            <a:r>
              <a:rPr sz="900" b="1">
                <a:solidFill>
                  <a:srgbClr val="5D69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1698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3E2FBA34-41BC-4C25-8D1F-847B4A835823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7A1F2B"/>
                </a:solidFill>
              </a:defRPr>
            </a:pPr>
            <a:r>
              <a:rPr sz="1125" b="1">
                <a:solidFill>
                  <a:srgbClr val="7A1F2B"/>
                </a:solidFill>
              </a:rPr>
              <a:t>BARRIO SOLIDARIO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8E4E579-2B80-46EA-82E1-F9839398A43E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72126"/>
                </a:solidFill>
              </a:defRPr>
            </a:pPr>
            <a:r>
              <a:rPr sz="3000" b="1">
                <a:solidFill>
                  <a:srgbClr val="172126"/>
                </a:solidFill>
              </a:rPr>
              <a:t>El equipo separa decisiones de producto, coordinación y ejecución técnica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328AA67-D9CD-4D30-895B-E3A2925188BB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971F3DF-7ED7-4EB4-86B8-E842DD706B5A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7A1F2B"/>
                </a:solidFill>
              </a:defRPr>
            </a:pPr>
            <a:r>
              <a:rPr sz="1200" b="1">
                <a:solidFill>
                  <a:srgbClr val="7A1F2B"/>
                </a:solidFill>
              </a:rPr>
              <a:t>GOBIERNO DEL PROYECTO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D42EF4-931E-4312-8C3E-07991660CF36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5D6970"/>
                </a:solidFill>
              </a:defRPr>
            </a:pPr>
            <a:r>
              <a:rPr sz="1425" b="1">
                <a:solidFill>
                  <a:srgbClr val="5D6970"/>
                </a:solidFill>
              </a:rPr>
              <a:t>Patrocinio académico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616AE25-DB3B-4BD4-A43F-C3F65C1771D2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2126"/>
                </a:solidFill>
              </a:defRPr>
            </a:pPr>
            <a:r>
              <a:rPr sz="1800" b="1">
                <a:solidFill>
                  <a:srgbClr val="172126"/>
                </a:solidFill>
              </a:rPr>
              <a:t>Ing. Victoria García Velásquez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551A876-72B3-4DF7-A55C-F2BEEF2BD648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5D6970"/>
                </a:solidFill>
              </a:defRPr>
            </a:pPr>
            <a:r>
              <a:rPr sz="1425" b="1">
                <a:solidFill>
                  <a:srgbClr val="5D6970"/>
                </a:solidFill>
              </a:rPr>
              <a:t>Scrum Master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7B0C62E-4C42-4E82-92D6-2AE8D8FFAED4}"/>
              </a:ext>
            </a:extLst>
          </p:cNvPr>
          <p:cNvSpPr>
            <a:spLocks noGrp="1"/>
          </p:cNvSpPr>
          <p:nvPr/>
        </p:nvSpPr>
        <p:spPr>
          <a:xfrm>
            <a:off x="685800" y="340042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2126"/>
                </a:solidFill>
              </a:defRPr>
            </a:pPr>
            <a:r>
              <a:rPr sz="1800" b="1" dirty="0">
                <a:solidFill>
                  <a:srgbClr val="172126"/>
                </a:solidFill>
              </a:rPr>
              <a:t>Alex Mendoza Morante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6E1F00B-B1C6-40CF-A7E2-744BEF1C795B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5D6970"/>
                </a:solidFill>
              </a:defRPr>
            </a:pPr>
            <a:r>
              <a:rPr sz="1425" b="1">
                <a:solidFill>
                  <a:srgbClr val="5D6970"/>
                </a:solidFill>
              </a:rPr>
              <a:t>Product Owner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5BD60C8-4FF3-4DE6-AF5E-4EA9996EDC50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2126"/>
                </a:solidFill>
              </a:defRPr>
            </a:pPr>
            <a:r>
              <a:rPr sz="1800" b="1">
                <a:solidFill>
                  <a:srgbClr val="172126"/>
                </a:solidFill>
              </a:rPr>
              <a:t>Víctor Tello Bravo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EA83FCD-7BE7-4074-8130-C308BDDCC443}"/>
              </a:ext>
            </a:extLst>
          </p:cNvPr>
          <p:cNvSpPr>
            <a:spLocks noGrp="1"/>
          </p:cNvSpPr>
          <p:nvPr/>
        </p:nvSpPr>
        <p:spPr>
          <a:xfrm>
            <a:off x="5476875" y="1666875"/>
            <a:ext cx="19050" cy="39052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D5F31B8-44F6-4B67-8D4C-8EC1BD8DAA21}"/>
              </a:ext>
            </a:extLst>
          </p:cNvPr>
          <p:cNvSpPr>
            <a:spLocks noGrp="1"/>
          </p:cNvSpPr>
          <p:nvPr/>
        </p:nvSpPr>
        <p:spPr>
          <a:xfrm>
            <a:off x="6048375" y="16954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7A1F2B"/>
                </a:solidFill>
              </a:defRPr>
            </a:pPr>
            <a:r>
              <a:rPr sz="1200" b="1">
                <a:solidFill>
                  <a:srgbClr val="7A1F2B"/>
                </a:solidFill>
              </a:rPr>
              <a:t>EQUIPO TÉCNICO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B886121-7163-4B15-8932-9C6982B90507}"/>
              </a:ext>
            </a:extLst>
          </p:cNvPr>
          <p:cNvSpPr>
            <a:spLocks noGrp="1"/>
          </p:cNvSpPr>
          <p:nvPr/>
        </p:nvSpPr>
        <p:spPr>
          <a:xfrm>
            <a:off x="6048375" y="20955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5D6970"/>
                </a:solidFill>
              </a:defRPr>
            </a:pPr>
            <a:r>
              <a:rPr sz="1350" b="1">
                <a:solidFill>
                  <a:srgbClr val="5D6970"/>
                </a:solidFill>
              </a:rPr>
              <a:t>Arquitectura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EFA40AE-C8AF-43A7-A04F-EA9AFEB1D70B}"/>
              </a:ext>
            </a:extLst>
          </p:cNvPr>
          <p:cNvSpPr>
            <a:spLocks noGrp="1"/>
          </p:cNvSpPr>
          <p:nvPr/>
        </p:nvSpPr>
        <p:spPr>
          <a:xfrm>
            <a:off x="6048375" y="235267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Kevin Carriel Bonoso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D56C60C-C351-4F6F-8EC2-CB05BF09C44F}"/>
              </a:ext>
            </a:extLst>
          </p:cNvPr>
          <p:cNvSpPr>
            <a:spLocks noGrp="1"/>
          </p:cNvSpPr>
          <p:nvPr/>
        </p:nvSpPr>
        <p:spPr>
          <a:xfrm>
            <a:off x="6048375" y="29337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5D6970"/>
                </a:solidFill>
              </a:defRPr>
            </a:pPr>
            <a:r>
              <a:rPr sz="1350" b="1">
                <a:solidFill>
                  <a:srgbClr val="5D6970"/>
                </a:solidFill>
              </a:rPr>
              <a:t>Frontend, UI/UX y accesibilidad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18FF585-BB5E-4258-8B21-4EA4B46D67D3}"/>
              </a:ext>
            </a:extLst>
          </p:cNvPr>
          <p:cNvSpPr>
            <a:spLocks noGrp="1"/>
          </p:cNvSpPr>
          <p:nvPr/>
        </p:nvSpPr>
        <p:spPr>
          <a:xfrm>
            <a:off x="6048375" y="319087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Mario Luzardo Fierro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D0A3C3C-B324-41FA-96BB-677580D149F5}"/>
              </a:ext>
            </a:extLst>
          </p:cNvPr>
          <p:cNvSpPr>
            <a:spLocks noGrp="1"/>
          </p:cNvSpPr>
          <p:nvPr/>
        </p:nvSpPr>
        <p:spPr>
          <a:xfrm>
            <a:off x="6048375" y="37719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5D6970"/>
                </a:solidFill>
              </a:defRPr>
            </a:pPr>
            <a:r>
              <a:rPr sz="1350" b="1">
                <a:solidFill>
                  <a:srgbClr val="5D6970"/>
                </a:solidFill>
              </a:rPr>
              <a:t>Backend y datos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2A7DEB4-10A3-4A8B-9887-FA55A0D810AC}"/>
              </a:ext>
            </a:extLst>
          </p:cNvPr>
          <p:cNvSpPr>
            <a:spLocks noGrp="1"/>
          </p:cNvSpPr>
          <p:nvPr/>
        </p:nvSpPr>
        <p:spPr>
          <a:xfrm>
            <a:off x="6048375" y="402907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Luis Ramírez Conejo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712005A-69DE-408A-872C-71319E4B765D}"/>
              </a:ext>
            </a:extLst>
          </p:cNvPr>
          <p:cNvSpPr>
            <a:spLocks noGrp="1"/>
          </p:cNvSpPr>
          <p:nvPr/>
        </p:nvSpPr>
        <p:spPr>
          <a:xfrm>
            <a:off x="6048375" y="46101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5D6970"/>
                </a:solidFill>
              </a:defRPr>
            </a:pPr>
            <a:r>
              <a:rPr sz="1350" b="1">
                <a:solidFill>
                  <a:srgbClr val="5D6970"/>
                </a:solidFill>
              </a:rPr>
              <a:t>Calidad, pruebas y seguridad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FBC9237-BF79-436E-92D5-1B29FA0F30CD}"/>
              </a:ext>
            </a:extLst>
          </p:cNvPr>
          <p:cNvSpPr>
            <a:spLocks noGrp="1"/>
          </p:cNvSpPr>
          <p:nvPr/>
        </p:nvSpPr>
        <p:spPr>
          <a:xfrm>
            <a:off x="6048375" y="486727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Luis Rodríguez Barrera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5B936B4-CE78-405A-864F-09380DE18413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D6970"/>
                </a:solidFill>
              </a:defRPr>
            </a:pPr>
            <a:r>
              <a:rPr sz="900" b="0">
                <a:solidFill>
                  <a:srgbClr val="5D6970"/>
                </a:solidFill>
              </a:rPr>
              <a:t>Ingeniería de Software II  •  Grupo IV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DCED1CA-CA7A-4679-B134-7E8F4B431D67}"/>
              </a:ext>
            </a:extLst>
          </p:cNvPr>
          <p:cNvSpPr>
            <a:spLocks noGrp="1"/>
          </p:cNvSpPr>
          <p:nvPr/>
        </p:nvSpPr>
        <p:spPr>
          <a:xfrm>
            <a:off x="11125200" y="65246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D6970"/>
                </a:solidFill>
              </a:defRPr>
            </a:pPr>
            <a:r>
              <a:rPr sz="900" b="1">
                <a:solidFill>
                  <a:srgbClr val="5D69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9112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CF7A3FB4-E522-451C-BD6B-17A6D89748C9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7A1F2B"/>
                </a:solidFill>
              </a:defRPr>
            </a:pPr>
            <a:r>
              <a:rPr sz="1125" b="1">
                <a:solidFill>
                  <a:srgbClr val="7A1F2B"/>
                </a:solidFill>
              </a:rPr>
              <a:t>BARRIO SOLIDARIO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4DA1C6F-F67E-4E2F-B3AB-72D97FDF762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72126"/>
                </a:solidFill>
              </a:defRPr>
            </a:pPr>
            <a:r>
              <a:rPr sz="3000" b="1">
                <a:solidFill>
                  <a:srgbClr val="172126"/>
                </a:solidFill>
              </a:rPr>
              <a:t>De la épica a una tarea verificable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3D1B2BB-76A2-4908-89BD-6BB2CD057B02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A573B2F-F1B9-4929-9D2E-6E9A6D514ECE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714500" cy="819150"/>
          </a:xfrm>
          <a:prstGeom prst="rect">
            <a:avLst/>
          </a:prstGeom>
          <a:solidFill>
            <a:srgbClr val="F3ECEE"/>
          </a:solidFill>
          <a:ln w="9525"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A1CA6A1-DB36-42F0-AE54-135FB5A8A890}"/>
              </a:ext>
            </a:extLst>
          </p:cNvPr>
          <p:cNvSpPr>
            <a:spLocks noGrp="1"/>
          </p:cNvSpPr>
          <p:nvPr/>
        </p:nvSpPr>
        <p:spPr>
          <a:xfrm>
            <a:off x="838200" y="1971675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7A1F2B"/>
                </a:solidFill>
              </a:defRPr>
            </a:pPr>
            <a:r>
              <a:rPr sz="1500" b="1">
                <a:solidFill>
                  <a:srgbClr val="7A1F2B"/>
                </a:solidFill>
              </a:rPr>
              <a:t>ÉPICA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AE772FD-C389-42DC-859F-00CFE7D8B9EC}"/>
              </a:ext>
            </a:extLst>
          </p:cNvPr>
          <p:cNvSpPr>
            <a:spLocks noGrp="1"/>
          </p:cNvSpPr>
          <p:nvPr/>
        </p:nvSpPr>
        <p:spPr>
          <a:xfrm>
            <a:off x="2400300" y="2162175"/>
            <a:ext cx="51435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2AD800C-1E96-43F6-872D-655715C1B4F9}"/>
              </a:ext>
            </a:extLst>
          </p:cNvPr>
          <p:cNvSpPr>
            <a:spLocks noGrp="1"/>
          </p:cNvSpPr>
          <p:nvPr/>
        </p:nvSpPr>
        <p:spPr>
          <a:xfrm>
            <a:off x="3143250" y="1762125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2126"/>
                </a:solidFill>
              </a:defRPr>
            </a:pPr>
            <a:r>
              <a:rPr sz="1800" b="1">
                <a:solidFill>
                  <a:srgbClr val="172126"/>
                </a:solidFill>
              </a:rPr>
              <a:t>Registro y acceso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BB529D-C26E-40D5-9B56-087F057457F7}"/>
              </a:ext>
            </a:extLst>
          </p:cNvPr>
          <p:cNvSpPr>
            <a:spLocks noGrp="1"/>
          </p:cNvSpPr>
          <p:nvPr/>
        </p:nvSpPr>
        <p:spPr>
          <a:xfrm>
            <a:off x="3143250" y="221932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D6970"/>
                </a:solidFill>
              </a:defRPr>
            </a:pPr>
            <a:r>
              <a:rPr sz="1350" b="0">
                <a:solidFill>
                  <a:srgbClr val="5D6970"/>
                </a:solidFill>
              </a:rPr>
              <a:t>Agrupa una capacidad funcional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8081231-ABE0-4ED4-8164-8B8E5E2CD684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1714500" cy="819150"/>
          </a:xfrm>
          <a:prstGeom prst="rect">
            <a:avLst/>
          </a:prstGeom>
          <a:solidFill>
            <a:srgbClr val="7A1F2B"/>
          </a:solidFill>
          <a:ln w="9525"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064D056-892D-4283-9DF8-845A9DD9D6A2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HISTORIA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976B1A7-FAF2-462A-A6F7-40257D0889AC}"/>
              </a:ext>
            </a:extLst>
          </p:cNvPr>
          <p:cNvSpPr>
            <a:spLocks noGrp="1"/>
          </p:cNvSpPr>
          <p:nvPr/>
        </p:nvSpPr>
        <p:spPr>
          <a:xfrm>
            <a:off x="2400300" y="3352800"/>
            <a:ext cx="51435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C60AB94-FF65-4728-9BA6-26F1857D4688}"/>
              </a:ext>
            </a:extLst>
          </p:cNvPr>
          <p:cNvSpPr>
            <a:spLocks noGrp="1"/>
          </p:cNvSpPr>
          <p:nvPr/>
        </p:nvSpPr>
        <p:spPr>
          <a:xfrm>
            <a:off x="3143250" y="29527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2126"/>
                </a:solidFill>
              </a:defRPr>
            </a:pPr>
            <a:r>
              <a:rPr sz="1800" b="1">
                <a:solidFill>
                  <a:srgbClr val="172126"/>
                </a:solidFill>
              </a:rPr>
              <a:t>HU-06 Registrar una cuenta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1C4B07D-BD7F-4B72-B471-85BF84C408CE}"/>
              </a:ext>
            </a:extLst>
          </p:cNvPr>
          <p:cNvSpPr>
            <a:spLocks noGrp="1"/>
          </p:cNvSpPr>
          <p:nvPr/>
        </p:nvSpPr>
        <p:spPr>
          <a:xfrm>
            <a:off x="3143250" y="34099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D6970"/>
                </a:solidFill>
              </a:defRPr>
            </a:pPr>
            <a:r>
              <a:rPr sz="1350" b="0">
                <a:solidFill>
                  <a:srgbClr val="5D6970"/>
                </a:solidFill>
              </a:rPr>
              <a:t>Expresa valor para el usuario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7E585C3-A2F1-4199-8111-FD2001FD3A85}"/>
              </a:ext>
            </a:extLst>
          </p:cNvPr>
          <p:cNvSpPr>
            <a:spLocks noGrp="1"/>
          </p:cNvSpPr>
          <p:nvPr/>
        </p:nvSpPr>
        <p:spPr>
          <a:xfrm>
            <a:off x="685800" y="4143375"/>
            <a:ext cx="1714500" cy="819150"/>
          </a:xfrm>
          <a:prstGeom prst="rect">
            <a:avLst/>
          </a:prstGeom>
          <a:solidFill>
            <a:srgbClr val="F3ECEE"/>
          </a:solidFill>
          <a:ln w="9525"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CA61A3A-ECC6-47B2-8BB5-E8BEA2AEBC78}"/>
              </a:ext>
            </a:extLst>
          </p:cNvPr>
          <p:cNvSpPr>
            <a:spLocks noGrp="1"/>
          </p:cNvSpPr>
          <p:nvPr/>
        </p:nvSpPr>
        <p:spPr>
          <a:xfrm>
            <a:off x="838200" y="4352925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7A1F2B"/>
                </a:solidFill>
              </a:defRPr>
            </a:pPr>
            <a:r>
              <a:rPr sz="1500" b="1">
                <a:solidFill>
                  <a:srgbClr val="7A1F2B"/>
                </a:solidFill>
              </a:rPr>
              <a:t>SUBTAREAS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C9DE9F5-FF7C-4A24-8A38-4ED7A472E528}"/>
              </a:ext>
            </a:extLst>
          </p:cNvPr>
          <p:cNvSpPr>
            <a:spLocks noGrp="1"/>
          </p:cNvSpPr>
          <p:nvPr/>
        </p:nvSpPr>
        <p:spPr>
          <a:xfrm>
            <a:off x="2400300" y="4543425"/>
            <a:ext cx="51435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D059F47-DBA8-420B-AC1E-E60A818F37CD}"/>
              </a:ext>
            </a:extLst>
          </p:cNvPr>
          <p:cNvSpPr>
            <a:spLocks noGrp="1"/>
          </p:cNvSpPr>
          <p:nvPr/>
        </p:nvSpPr>
        <p:spPr>
          <a:xfrm>
            <a:off x="3143250" y="4143375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2126"/>
                </a:solidFill>
              </a:defRPr>
            </a:pPr>
            <a:r>
              <a:rPr sz="1800" b="1">
                <a:solidFill>
                  <a:srgbClr val="172126"/>
                </a:solidFill>
              </a:rPr>
              <a:t>Análisis · UI · backend · seguridad · pruebas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70326B4-89FF-4D18-872E-6E76FB0B1324}"/>
              </a:ext>
            </a:extLst>
          </p:cNvPr>
          <p:cNvSpPr>
            <a:spLocks noGrp="1"/>
          </p:cNvSpPr>
          <p:nvPr/>
        </p:nvSpPr>
        <p:spPr>
          <a:xfrm>
            <a:off x="3143250" y="46005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D6970"/>
                </a:solidFill>
              </a:defRPr>
            </a:pPr>
            <a:r>
              <a:rPr sz="1350" b="0">
                <a:solidFill>
                  <a:srgbClr val="5D6970"/>
                </a:solidFill>
              </a:rPr>
              <a:t>Convierte la historia en trabajo asignable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A532547-9145-43AC-8A3A-9E9E3023B151}"/>
              </a:ext>
            </a:extLst>
          </p:cNvPr>
          <p:cNvSpPr>
            <a:spLocks noGrp="1"/>
          </p:cNvSpPr>
          <p:nvPr/>
        </p:nvSpPr>
        <p:spPr>
          <a:xfrm>
            <a:off x="8572500" y="1714500"/>
            <a:ext cx="2667000" cy="3667125"/>
          </a:xfrm>
          <a:prstGeom prst="rect">
            <a:avLst/>
          </a:prstGeom>
          <a:solidFill>
            <a:srgbClr val="F1F3F4"/>
          </a:solidFill>
          <a:ln w="9525"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6C4A21E-5B87-4A5B-BF74-3768C3F96B60}"/>
              </a:ext>
            </a:extLst>
          </p:cNvPr>
          <p:cNvSpPr>
            <a:spLocks noGrp="1"/>
          </p:cNvSpPr>
          <p:nvPr/>
        </p:nvSpPr>
        <p:spPr>
          <a:xfrm>
            <a:off x="8858250" y="195262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7A1F2B"/>
                </a:solidFill>
              </a:defRPr>
            </a:pPr>
            <a:r>
              <a:rPr sz="1725" b="1">
                <a:solidFill>
                  <a:srgbClr val="7A1F2B"/>
                </a:solidFill>
              </a:rPr>
              <a:t>Ejemplo HU-06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6D16EE8-C7C0-40C8-870D-656E7903C8E2}"/>
              </a:ext>
            </a:extLst>
          </p:cNvPr>
          <p:cNvSpPr>
            <a:spLocks noGrp="1"/>
          </p:cNvSpPr>
          <p:nvPr/>
        </p:nvSpPr>
        <p:spPr>
          <a:xfrm>
            <a:off x="8858250" y="24765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7A1F2B"/>
                </a:solidFill>
              </a:defRPr>
            </a:pPr>
            <a:r>
              <a:rPr sz="1425" b="1">
                <a:solidFill>
                  <a:srgbClr val="7A1F2B"/>
                </a:solidFill>
              </a:rPr>
              <a:t>•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75704AB-042B-45FA-B585-FFA8659F9834}"/>
              </a:ext>
            </a:extLst>
          </p:cNvPr>
          <p:cNvSpPr>
            <a:spLocks noGrp="1"/>
          </p:cNvSpPr>
          <p:nvPr/>
        </p:nvSpPr>
        <p:spPr>
          <a:xfrm>
            <a:off x="9124950" y="2476500"/>
            <a:ext cx="1828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72126"/>
                </a:solidFill>
              </a:defRPr>
            </a:pPr>
            <a:r>
              <a:rPr sz="1275" b="0">
                <a:solidFill>
                  <a:srgbClr val="172126"/>
                </a:solidFill>
              </a:rPr>
              <a:t>Definir campos y reglas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6F59546-9FBE-4265-9686-E8A556F28B5C}"/>
              </a:ext>
            </a:extLst>
          </p:cNvPr>
          <p:cNvSpPr>
            <a:spLocks noGrp="1"/>
          </p:cNvSpPr>
          <p:nvPr/>
        </p:nvSpPr>
        <p:spPr>
          <a:xfrm>
            <a:off x="8858250" y="307657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7A1F2B"/>
                </a:solidFill>
              </a:defRPr>
            </a:pPr>
            <a:r>
              <a:rPr sz="1425" b="1">
                <a:solidFill>
                  <a:srgbClr val="7A1F2B"/>
                </a:solidFill>
              </a:rPr>
              <a:t>•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1872C22-ECF2-4CF4-8E6C-76594BDE4401}"/>
              </a:ext>
            </a:extLst>
          </p:cNvPr>
          <p:cNvSpPr>
            <a:spLocks noGrp="1"/>
          </p:cNvSpPr>
          <p:nvPr/>
        </p:nvSpPr>
        <p:spPr>
          <a:xfrm>
            <a:off x="9124950" y="3076575"/>
            <a:ext cx="1828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72126"/>
                </a:solidFill>
              </a:defRPr>
            </a:pPr>
            <a:r>
              <a:rPr sz="1275" b="0">
                <a:solidFill>
                  <a:srgbClr val="172126"/>
                </a:solidFill>
              </a:rPr>
              <a:t>Diseñar formulario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D3F6E33-3759-4EE8-B408-9F8D25028F46}"/>
              </a:ext>
            </a:extLst>
          </p:cNvPr>
          <p:cNvSpPr>
            <a:spLocks noGrp="1"/>
          </p:cNvSpPr>
          <p:nvPr/>
        </p:nvSpPr>
        <p:spPr>
          <a:xfrm>
            <a:off x="8858250" y="367665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7A1F2B"/>
                </a:solidFill>
              </a:defRPr>
            </a:pPr>
            <a:r>
              <a:rPr sz="1425" b="1">
                <a:solidFill>
                  <a:srgbClr val="7A1F2B"/>
                </a:solidFill>
              </a:rPr>
              <a:t>•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841A9F3-CEB2-44E3-98DB-64B60384A147}"/>
              </a:ext>
            </a:extLst>
          </p:cNvPr>
          <p:cNvSpPr>
            <a:spLocks noGrp="1"/>
          </p:cNvSpPr>
          <p:nvPr/>
        </p:nvSpPr>
        <p:spPr>
          <a:xfrm>
            <a:off x="9124950" y="3676650"/>
            <a:ext cx="1828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72126"/>
                </a:solidFill>
              </a:defRPr>
            </a:pPr>
            <a:r>
              <a:rPr sz="1275" b="0">
                <a:solidFill>
                  <a:srgbClr val="172126"/>
                </a:solidFill>
              </a:rPr>
              <a:t>Implementar registro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4241E-5B6D-4002-9593-4831690BC3DF}"/>
              </a:ext>
            </a:extLst>
          </p:cNvPr>
          <p:cNvSpPr>
            <a:spLocks noGrp="1"/>
          </p:cNvSpPr>
          <p:nvPr/>
        </p:nvSpPr>
        <p:spPr>
          <a:xfrm>
            <a:off x="8858250" y="42767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7A1F2B"/>
                </a:solidFill>
              </a:defRPr>
            </a:pPr>
            <a:r>
              <a:rPr sz="1425" b="1">
                <a:solidFill>
                  <a:srgbClr val="7A1F2B"/>
                </a:solidFill>
              </a:rPr>
              <a:t>•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38F90EF-D03B-481B-A723-978717DA5EDA}"/>
              </a:ext>
            </a:extLst>
          </p:cNvPr>
          <p:cNvSpPr>
            <a:spLocks noGrp="1"/>
          </p:cNvSpPr>
          <p:nvPr/>
        </p:nvSpPr>
        <p:spPr>
          <a:xfrm>
            <a:off x="9124950" y="4276725"/>
            <a:ext cx="1828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72126"/>
                </a:solidFill>
              </a:defRPr>
            </a:pPr>
            <a:r>
              <a:rPr sz="1275" b="0">
                <a:solidFill>
                  <a:srgbClr val="172126"/>
                </a:solidFill>
              </a:rPr>
              <a:t>Probar seguridad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E56911B-CC85-4FBE-8925-DDBCDE22E870}"/>
              </a:ext>
            </a:extLst>
          </p:cNvPr>
          <p:cNvSpPr>
            <a:spLocks noGrp="1"/>
          </p:cNvSpPr>
          <p:nvPr/>
        </p:nvSpPr>
        <p:spPr>
          <a:xfrm>
            <a:off x="8858250" y="4762500"/>
            <a:ext cx="2095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D6970"/>
                </a:solidFill>
              </a:defRPr>
            </a:pPr>
            <a:r>
              <a:rPr sz="1200" b="1">
                <a:solidFill>
                  <a:srgbClr val="5D6970"/>
                </a:solidFill>
              </a:rPr>
              <a:t>Jira conserva la relación</a:t>
            </a:r>
          </a:p>
          <a:p>
            <a:pPr algn="l">
              <a:defRPr sz="1200" b="1">
                <a:solidFill>
                  <a:srgbClr val="5D6970"/>
                </a:solidFill>
              </a:defRPr>
            </a:pPr>
            <a:r>
              <a:rPr sz="1200" b="1">
                <a:solidFill>
                  <a:srgbClr val="5D6970"/>
                </a:solidFill>
              </a:rPr>
              <a:t>Parent → Story → Subtask.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E020435-8EEE-428A-9AB5-FA96803E337E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D6970"/>
                </a:solidFill>
              </a:defRPr>
            </a:pPr>
            <a:r>
              <a:rPr sz="900" b="0">
                <a:solidFill>
                  <a:srgbClr val="5D6970"/>
                </a:solidFill>
              </a:rPr>
              <a:t>Ingeniería de Software II  •  Grupo IV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76C39B7-00AC-40AB-BA2B-66C9105CB3A2}"/>
              </a:ext>
            </a:extLst>
          </p:cNvPr>
          <p:cNvSpPr>
            <a:spLocks noGrp="1"/>
          </p:cNvSpPr>
          <p:nvPr/>
        </p:nvSpPr>
        <p:spPr>
          <a:xfrm>
            <a:off x="11125200" y="65246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D6970"/>
                </a:solidFill>
              </a:defRPr>
            </a:pPr>
            <a:r>
              <a:rPr sz="900" b="1">
                <a:solidFill>
                  <a:srgbClr val="5D69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1569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67437B73-DEBA-490B-9E53-05945175CEED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7A1F2B"/>
                </a:solidFill>
              </a:defRPr>
            </a:pPr>
            <a:r>
              <a:rPr sz="1125" b="1">
                <a:solidFill>
                  <a:srgbClr val="7A1F2B"/>
                </a:solidFill>
              </a:rPr>
              <a:t>BARRIO SOLIDARIO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C4B9A5-D766-44D5-8D02-A2AA231773DA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72126"/>
                </a:solidFill>
              </a:defRPr>
            </a:pPr>
            <a:r>
              <a:rPr sz="3000" b="1">
                <a:solidFill>
                  <a:srgbClr val="172126"/>
                </a:solidFill>
              </a:rPr>
              <a:t>Cuatro sprints llevan el proyecto desde la definición hasta la entrega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9C3F7E3-305E-471D-8972-9CFF718587E7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6CE75CD-9638-4A39-8340-769DB190B892}"/>
              </a:ext>
            </a:extLst>
          </p:cNvPr>
          <p:cNvSpPr>
            <a:spLocks noGrp="1"/>
          </p:cNvSpPr>
          <p:nvPr/>
        </p:nvSpPr>
        <p:spPr>
          <a:xfrm>
            <a:off x="1143000" y="3000375"/>
            <a:ext cx="9906000" cy="28575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3A7CAE2-A919-48D8-B84A-6EFE1D136304}"/>
              </a:ext>
            </a:extLst>
          </p:cNvPr>
          <p:cNvSpPr>
            <a:spLocks noGrp="1"/>
          </p:cNvSpPr>
          <p:nvPr/>
        </p:nvSpPr>
        <p:spPr>
          <a:xfrm>
            <a:off x="1381125" y="27908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166D5DD-5AB4-4763-AE9B-F6CA21C43023}"/>
              </a:ext>
            </a:extLst>
          </p:cNvPr>
          <p:cNvSpPr>
            <a:spLocks noGrp="1"/>
          </p:cNvSpPr>
          <p:nvPr/>
        </p:nvSpPr>
        <p:spPr>
          <a:xfrm>
            <a:off x="1381125" y="28003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998AB3-5D37-422A-806E-287726E74D7D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7A1F2B"/>
                </a:solidFill>
              </a:defRPr>
            </a:pPr>
            <a:r>
              <a:rPr sz="1575" b="1">
                <a:solidFill>
                  <a:srgbClr val="7A1F2B"/>
                </a:solidFill>
              </a:rPr>
              <a:t>SPRINT 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5EC3C5E-CD94-4821-8B43-95A385766E28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D6970"/>
                </a:solidFill>
              </a:defRPr>
            </a:pPr>
            <a:r>
              <a:rPr sz="1275" b="0">
                <a:solidFill>
                  <a:srgbClr val="5D6970"/>
                </a:solidFill>
              </a:rPr>
              <a:t>15–29 ago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DB45FCB-972D-445C-8DE7-5707B9240B34}"/>
              </a:ext>
            </a:extLst>
          </p:cNvPr>
          <p:cNvSpPr>
            <a:spLocks noGrp="1"/>
          </p:cNvSpPr>
          <p:nvPr/>
        </p:nvSpPr>
        <p:spPr>
          <a:xfrm>
            <a:off x="762000" y="3381375"/>
            <a:ext cx="2190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Planificación, requisitos, backlog, modelos y Jira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0F1D55EF-3625-4FCF-A791-645D2EFBE0F8}"/>
              </a:ext>
            </a:extLst>
          </p:cNvPr>
          <p:cNvSpPr>
            <a:spLocks noGrp="1"/>
          </p:cNvSpPr>
          <p:nvPr/>
        </p:nvSpPr>
        <p:spPr>
          <a:xfrm>
            <a:off x="4143375" y="27908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C8CDD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9A27D0E-F43E-493F-90AD-70FBB05183F5}"/>
              </a:ext>
            </a:extLst>
          </p:cNvPr>
          <p:cNvSpPr>
            <a:spLocks noGrp="1"/>
          </p:cNvSpPr>
          <p:nvPr/>
        </p:nvSpPr>
        <p:spPr>
          <a:xfrm>
            <a:off x="4143375" y="28003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7A1F2B"/>
                </a:solidFill>
              </a:defRPr>
            </a:pPr>
            <a:r>
              <a:rPr sz="1425" b="1">
                <a:solidFill>
                  <a:srgbClr val="7A1F2B"/>
                </a:solidFill>
              </a:rPr>
              <a:t>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32A355E-DB27-4D77-800E-929720352129}"/>
              </a:ext>
            </a:extLst>
          </p:cNvPr>
          <p:cNvSpPr>
            <a:spLocks noGrp="1"/>
          </p:cNvSpPr>
          <p:nvPr/>
        </p:nvSpPr>
        <p:spPr>
          <a:xfrm>
            <a:off x="3714750" y="18097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7A1F2B"/>
                </a:solidFill>
              </a:defRPr>
            </a:pPr>
            <a:r>
              <a:rPr sz="1575" b="1">
                <a:solidFill>
                  <a:srgbClr val="7A1F2B"/>
                </a:solidFill>
              </a:rPr>
              <a:t>SPRINT 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D9C0BC5-1BC9-411C-B661-D6F5D9A92B8F}"/>
              </a:ext>
            </a:extLst>
          </p:cNvPr>
          <p:cNvSpPr>
            <a:spLocks noGrp="1"/>
          </p:cNvSpPr>
          <p:nvPr/>
        </p:nvSpPr>
        <p:spPr>
          <a:xfrm>
            <a:off x="3714750" y="214312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D6970"/>
                </a:solidFill>
              </a:defRPr>
            </a:pPr>
            <a:r>
              <a:rPr sz="1275" b="0">
                <a:solidFill>
                  <a:srgbClr val="5D6970"/>
                </a:solidFill>
              </a:rPr>
              <a:t>29 ago–12 sep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C78388C-4F16-4364-8DA0-E19C84BCB465}"/>
              </a:ext>
            </a:extLst>
          </p:cNvPr>
          <p:cNvSpPr>
            <a:spLocks noGrp="1"/>
          </p:cNvSpPr>
          <p:nvPr/>
        </p:nvSpPr>
        <p:spPr>
          <a:xfrm>
            <a:off x="3524250" y="3381375"/>
            <a:ext cx="2190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Diseño detallado y base funcional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0BDB989-6533-409C-99F2-6179CE1C0CF0}"/>
              </a:ext>
            </a:extLst>
          </p:cNvPr>
          <p:cNvSpPr>
            <a:spLocks noGrp="1"/>
          </p:cNvSpPr>
          <p:nvPr/>
        </p:nvSpPr>
        <p:spPr>
          <a:xfrm>
            <a:off x="6905625" y="27908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C8CDD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E2407CE-F8B1-4E77-BC5D-8D09F9609918}"/>
              </a:ext>
            </a:extLst>
          </p:cNvPr>
          <p:cNvSpPr>
            <a:spLocks noGrp="1"/>
          </p:cNvSpPr>
          <p:nvPr/>
        </p:nvSpPr>
        <p:spPr>
          <a:xfrm>
            <a:off x="6905625" y="28003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7A1F2B"/>
                </a:solidFill>
              </a:defRPr>
            </a:pPr>
            <a:r>
              <a:rPr sz="1425" b="1">
                <a:solidFill>
                  <a:srgbClr val="7A1F2B"/>
                </a:solidFill>
              </a:rPr>
              <a:t>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FAB5ADF-855F-48FE-A5AD-F81F9D2FF3B2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7A1F2B"/>
                </a:solidFill>
              </a:defRPr>
            </a:pPr>
            <a:r>
              <a:rPr sz="1575" b="1">
                <a:solidFill>
                  <a:srgbClr val="7A1F2B"/>
                </a:solidFill>
              </a:rPr>
              <a:t>SPRINT 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F94B798-EF8A-4F71-9DA6-3389E0AC510C}"/>
              </a:ext>
            </a:extLst>
          </p:cNvPr>
          <p:cNvSpPr>
            <a:spLocks noGrp="1"/>
          </p:cNvSpPr>
          <p:nvPr/>
        </p:nvSpPr>
        <p:spPr>
          <a:xfrm>
            <a:off x="6477000" y="214312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D6970"/>
                </a:solidFill>
              </a:defRPr>
            </a:pPr>
            <a:r>
              <a:rPr sz="1275" b="0">
                <a:solidFill>
                  <a:srgbClr val="5D6970"/>
                </a:solidFill>
              </a:rPr>
              <a:t>12–26 sep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035B17B-F101-4E91-90B8-2BC1997E2E42}"/>
              </a:ext>
            </a:extLst>
          </p:cNvPr>
          <p:cNvSpPr>
            <a:spLocks noGrp="1"/>
          </p:cNvSpPr>
          <p:nvPr/>
        </p:nvSpPr>
        <p:spPr>
          <a:xfrm>
            <a:off x="6286500" y="3381375"/>
            <a:ext cx="2190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Flujo de colaboración, calidad y riesgos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1FB66F17-BB35-4F5A-8A2A-752FC0DD0805}"/>
              </a:ext>
            </a:extLst>
          </p:cNvPr>
          <p:cNvSpPr>
            <a:spLocks noGrp="1"/>
          </p:cNvSpPr>
          <p:nvPr/>
        </p:nvSpPr>
        <p:spPr>
          <a:xfrm>
            <a:off x="9667875" y="27908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C8CDD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04259F7-7671-4BA1-BA05-6E8309172F92}"/>
              </a:ext>
            </a:extLst>
          </p:cNvPr>
          <p:cNvSpPr>
            <a:spLocks noGrp="1"/>
          </p:cNvSpPr>
          <p:nvPr/>
        </p:nvSpPr>
        <p:spPr>
          <a:xfrm>
            <a:off x="9667875" y="28003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7A1F2B"/>
                </a:solidFill>
              </a:defRPr>
            </a:pPr>
            <a:r>
              <a:rPr sz="1425" b="1">
                <a:solidFill>
                  <a:srgbClr val="7A1F2B"/>
                </a:solidFill>
              </a:rPr>
              <a:t>4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F0FF523-6C77-46A3-AB11-0B6ACF8083C2}"/>
              </a:ext>
            </a:extLst>
          </p:cNvPr>
          <p:cNvSpPr>
            <a:spLocks noGrp="1"/>
          </p:cNvSpPr>
          <p:nvPr/>
        </p:nvSpPr>
        <p:spPr>
          <a:xfrm>
            <a:off x="9239250" y="18097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7A1F2B"/>
                </a:solidFill>
              </a:defRPr>
            </a:pPr>
            <a:r>
              <a:rPr sz="1575" b="1">
                <a:solidFill>
                  <a:srgbClr val="7A1F2B"/>
                </a:solidFill>
              </a:rPr>
              <a:t>SPRINT 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97F874D-EA6D-4F47-AD26-2F4C44CF9D01}"/>
              </a:ext>
            </a:extLst>
          </p:cNvPr>
          <p:cNvSpPr>
            <a:spLocks noGrp="1"/>
          </p:cNvSpPr>
          <p:nvPr/>
        </p:nvSpPr>
        <p:spPr>
          <a:xfrm>
            <a:off x="9239250" y="214312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D6970"/>
                </a:solidFill>
              </a:defRPr>
            </a:pPr>
            <a:r>
              <a:rPr sz="1275" b="0">
                <a:solidFill>
                  <a:srgbClr val="5D6970"/>
                </a:solidFill>
              </a:rPr>
              <a:t>Desde 26 sep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808F8D0-1A3F-4C41-AE32-702C8F4684F1}"/>
              </a:ext>
            </a:extLst>
          </p:cNvPr>
          <p:cNvSpPr>
            <a:spLocks noGrp="1"/>
          </p:cNvSpPr>
          <p:nvPr/>
        </p:nvSpPr>
        <p:spPr>
          <a:xfrm>
            <a:off x="9048750" y="3381375"/>
            <a:ext cx="2190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Integración, pruebas y cierre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D30AB05-8B4C-464A-A8E9-D8D90542A25B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10572750" cy="619125"/>
          </a:xfrm>
          <a:prstGeom prst="rect">
            <a:avLst/>
          </a:prstGeom>
          <a:solidFill>
            <a:srgbClr val="F3ECEE"/>
          </a:solidFill>
          <a:ln w="9525"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EBF6036-A2F3-4AB6-899A-F62E16230972}"/>
              </a:ext>
            </a:extLst>
          </p:cNvPr>
          <p:cNvSpPr>
            <a:spLocks noGrp="1"/>
          </p:cNvSpPr>
          <p:nvPr/>
        </p:nvSpPr>
        <p:spPr>
          <a:xfrm>
            <a:off x="876300" y="5191125"/>
            <a:ext cx="1019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Las reuniones de seguimiento se realizan los martes de 21:00 a 22:00 y a demanda.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374020E-AC18-48BE-A59F-D94A2B093C89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D6970"/>
                </a:solidFill>
              </a:defRPr>
            </a:pPr>
            <a:r>
              <a:rPr sz="900" b="0">
                <a:solidFill>
                  <a:srgbClr val="5D6970"/>
                </a:solidFill>
              </a:rPr>
              <a:t>Ingeniería de Software II  •  Grupo IV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3BD43B0-9CAC-43C5-898D-873A054FEEE1}"/>
              </a:ext>
            </a:extLst>
          </p:cNvPr>
          <p:cNvSpPr>
            <a:spLocks noGrp="1"/>
          </p:cNvSpPr>
          <p:nvPr/>
        </p:nvSpPr>
        <p:spPr>
          <a:xfrm>
            <a:off x="11125200" y="65246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D6970"/>
                </a:solidFill>
              </a:defRPr>
            </a:pPr>
            <a:r>
              <a:rPr sz="900" b="1">
                <a:solidFill>
                  <a:srgbClr val="5D69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09018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D027350F-5F46-4F49-A646-0597855FFFC2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7A1F2B"/>
                </a:solidFill>
              </a:defRPr>
            </a:pPr>
            <a:r>
              <a:rPr sz="1125" b="1">
                <a:solidFill>
                  <a:srgbClr val="7A1F2B"/>
                </a:solidFill>
              </a:rPr>
              <a:t>BARRIO SOLIDARIO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5AB4245-9502-45E9-A62A-D632E78BA62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72126"/>
                </a:solidFill>
              </a:defRPr>
            </a:pPr>
            <a:r>
              <a:rPr sz="3000" b="1">
                <a:solidFill>
                  <a:srgbClr val="172126"/>
                </a:solidFill>
              </a:rPr>
              <a:t>Las historias se distribuyen según sus dependencias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D389EE8-FBC3-482C-9B5C-5FAC8852B936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BDEF3AF-B2FC-4768-9114-1F63B511B15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143250" cy="3095625"/>
          </a:xfrm>
          <a:prstGeom prst="rect">
            <a:avLst/>
          </a:prstGeom>
          <a:solidFill>
            <a:srgbClr val="F3ECEE"/>
          </a:solidFill>
          <a:ln w="9525"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3D6E59B-2FA1-47BA-B578-1B77C496EAE8}"/>
              </a:ext>
            </a:extLst>
          </p:cNvPr>
          <p:cNvSpPr>
            <a:spLocks noGrp="1"/>
          </p:cNvSpPr>
          <p:nvPr/>
        </p:nvSpPr>
        <p:spPr>
          <a:xfrm>
            <a:off x="952500" y="204787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7A1F2B"/>
                </a:solidFill>
              </a:defRPr>
            </a:pPr>
            <a:r>
              <a:rPr sz="1350" b="1">
                <a:solidFill>
                  <a:srgbClr val="7A1F2B"/>
                </a:solidFill>
              </a:rPr>
              <a:t>SPRINT 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EA71ED0-7D73-4C64-A55F-FB181D3BC457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72126"/>
                </a:solidFill>
              </a:defRPr>
            </a:pPr>
            <a:r>
              <a:rPr sz="3600" b="1">
                <a:solidFill>
                  <a:srgbClr val="172126"/>
                </a:solidFill>
              </a:rPr>
              <a:t>22 HU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FC3B15A-64CF-40B0-B352-3711FFD40DA2}"/>
              </a:ext>
            </a:extLst>
          </p:cNvPr>
          <p:cNvSpPr>
            <a:spLocks noGrp="1"/>
          </p:cNvSpPr>
          <p:nvPr/>
        </p:nvSpPr>
        <p:spPr>
          <a:xfrm>
            <a:off x="952500" y="333375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A64352"/>
                </a:solidFill>
              </a:defRPr>
            </a:pPr>
            <a:r>
              <a:rPr sz="1575" b="1">
                <a:solidFill>
                  <a:srgbClr val="A64352"/>
                </a:solidFill>
              </a:rPr>
              <a:t>HU-01 a HU-22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2BFD1DD-825B-4D77-8DD5-BF0B658E8038}"/>
              </a:ext>
            </a:extLst>
          </p:cNvPr>
          <p:cNvSpPr>
            <a:spLocks noGrp="1"/>
          </p:cNvSpPr>
          <p:nvPr/>
        </p:nvSpPr>
        <p:spPr>
          <a:xfrm>
            <a:off x="952500" y="3857625"/>
            <a:ext cx="2571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Portal, acceso, perfiles y solicitudes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B41EBD1-44B2-441B-AF67-5375E06A48CE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143250" cy="3095625"/>
          </a:xfrm>
          <a:prstGeom prst="rect">
            <a:avLst/>
          </a:prstGeom>
          <a:solidFill>
            <a:srgbClr val="F1F3F4"/>
          </a:solidFill>
          <a:ln w="9525"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82CBEAC-482F-4EC4-B7FA-4626E8204962}"/>
              </a:ext>
            </a:extLst>
          </p:cNvPr>
          <p:cNvSpPr>
            <a:spLocks noGrp="1"/>
          </p:cNvSpPr>
          <p:nvPr/>
        </p:nvSpPr>
        <p:spPr>
          <a:xfrm>
            <a:off x="4572000" y="204787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7A1F2B"/>
                </a:solidFill>
              </a:defRPr>
            </a:pPr>
            <a:r>
              <a:rPr sz="1350" b="1">
                <a:solidFill>
                  <a:srgbClr val="7A1F2B"/>
                </a:solidFill>
              </a:rPr>
              <a:t>SPRINT 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8576B3F-8EFB-4EBB-A2B6-7EB61F8584A3}"/>
              </a:ext>
            </a:extLst>
          </p:cNvPr>
          <p:cNvSpPr>
            <a:spLocks noGrp="1"/>
          </p:cNvSpPr>
          <p:nvPr/>
        </p:nvSpPr>
        <p:spPr>
          <a:xfrm>
            <a:off x="4572000" y="257175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72126"/>
                </a:solidFill>
              </a:defRPr>
            </a:pPr>
            <a:r>
              <a:rPr sz="3600" b="1">
                <a:solidFill>
                  <a:srgbClr val="172126"/>
                </a:solidFill>
              </a:rPr>
              <a:t>18 HU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912E34F-02FB-401D-9FCF-F94F7F99C750}"/>
              </a:ext>
            </a:extLst>
          </p:cNvPr>
          <p:cNvSpPr>
            <a:spLocks noGrp="1"/>
          </p:cNvSpPr>
          <p:nvPr/>
        </p:nvSpPr>
        <p:spPr>
          <a:xfrm>
            <a:off x="4572000" y="333375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A64352"/>
                </a:solidFill>
              </a:defRPr>
            </a:pPr>
            <a:r>
              <a:rPr sz="1575" b="1">
                <a:solidFill>
                  <a:srgbClr val="A64352"/>
                </a:solidFill>
              </a:rPr>
              <a:t>HU-23 a HU-40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D18A774-ADD8-443E-B11D-64DEB9E7FCFB}"/>
              </a:ext>
            </a:extLst>
          </p:cNvPr>
          <p:cNvSpPr>
            <a:spLocks noGrp="1"/>
          </p:cNvSpPr>
          <p:nvPr/>
        </p:nvSpPr>
        <p:spPr>
          <a:xfrm>
            <a:off x="4572000" y="3857625"/>
            <a:ext cx="2571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Postulación, asignación y jornadas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2DFF0CD-A157-4BFA-A927-56418F7C93B5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143250" cy="3095625"/>
          </a:xfrm>
          <a:prstGeom prst="rect">
            <a:avLst/>
          </a:prstGeom>
          <a:solidFill>
            <a:srgbClr val="F1F3F4"/>
          </a:solidFill>
          <a:ln w="9525"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B53F41F-6188-4FC1-8840-07C887081D03}"/>
              </a:ext>
            </a:extLst>
          </p:cNvPr>
          <p:cNvSpPr>
            <a:spLocks noGrp="1"/>
          </p:cNvSpPr>
          <p:nvPr/>
        </p:nvSpPr>
        <p:spPr>
          <a:xfrm>
            <a:off x="8191500" y="204787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7A1F2B"/>
                </a:solidFill>
              </a:defRPr>
            </a:pPr>
            <a:r>
              <a:rPr sz="1350" b="1">
                <a:solidFill>
                  <a:srgbClr val="7A1F2B"/>
                </a:solidFill>
              </a:rPr>
              <a:t>SPRINT 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EA8D15B-C155-4798-8602-1C348346CDC5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72126"/>
                </a:solidFill>
              </a:defRPr>
            </a:pPr>
            <a:r>
              <a:rPr sz="3600" b="1">
                <a:solidFill>
                  <a:srgbClr val="172126"/>
                </a:solidFill>
              </a:rPr>
              <a:t>20 HU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96EDE90-B19B-4C35-86AC-9CF3EFC61C4A}"/>
              </a:ext>
            </a:extLst>
          </p:cNvPr>
          <p:cNvSpPr>
            <a:spLocks noGrp="1"/>
          </p:cNvSpPr>
          <p:nvPr/>
        </p:nvSpPr>
        <p:spPr>
          <a:xfrm>
            <a:off x="8191500" y="333375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A64352"/>
                </a:solidFill>
              </a:defRPr>
            </a:pPr>
            <a:r>
              <a:rPr sz="1575" b="1">
                <a:solidFill>
                  <a:srgbClr val="A64352"/>
                </a:solidFill>
              </a:rPr>
              <a:t>HU-41 a HU-60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EFC2D2E-B7CD-4753-9C40-B3A6E2BCE4E1}"/>
              </a:ext>
            </a:extLst>
          </p:cNvPr>
          <p:cNvSpPr>
            <a:spLocks noGrp="1"/>
          </p:cNvSpPr>
          <p:nvPr/>
        </p:nvSpPr>
        <p:spPr>
          <a:xfrm>
            <a:off x="8191500" y="3857625"/>
            <a:ext cx="2571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Control, reportes, seguridad y auditoría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DBF31E1-9E84-4D5A-8AC5-97C6A0B0F60E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5D6970"/>
                </a:solidFill>
              </a:defRPr>
            </a:pPr>
            <a:r>
              <a:rPr sz="1650" b="1">
                <a:solidFill>
                  <a:srgbClr val="5D6970"/>
                </a:solidFill>
              </a:rPr>
              <a:t>Sprint 1 concentra las 20 actividades de planificación y documentación; las HU comienzan desde el Sprint 2.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5DCDFC7-77BF-4C91-97B0-19BA54692696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D6970"/>
                </a:solidFill>
              </a:defRPr>
            </a:pPr>
            <a:r>
              <a:rPr sz="900" b="0">
                <a:solidFill>
                  <a:srgbClr val="5D6970"/>
                </a:solidFill>
              </a:rPr>
              <a:t>Ingeniería de Software II  •  Grupo IV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72A9DCD-5A74-468F-81CE-3997501F2181}"/>
              </a:ext>
            </a:extLst>
          </p:cNvPr>
          <p:cNvSpPr>
            <a:spLocks noGrp="1"/>
          </p:cNvSpPr>
          <p:nvPr/>
        </p:nvSpPr>
        <p:spPr>
          <a:xfrm>
            <a:off x="11125200" y="65246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D6970"/>
                </a:solidFill>
              </a:defRPr>
            </a:pPr>
            <a:r>
              <a:rPr sz="900" b="1">
                <a:solidFill>
                  <a:srgbClr val="5D69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88685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D59C1BAB-89BA-44EF-AF45-1F617C0F3017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7A1F2B"/>
                </a:solidFill>
              </a:defRPr>
            </a:pPr>
            <a:r>
              <a:rPr sz="1125" b="1">
                <a:solidFill>
                  <a:srgbClr val="7A1F2B"/>
                </a:solidFill>
              </a:rPr>
              <a:t>BARRIO SOLIDARIO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17E9EA4-805E-44A1-9999-D9528D42ED9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72126"/>
                </a:solidFill>
              </a:defRPr>
            </a:pPr>
            <a:r>
              <a:rPr sz="3000" b="1">
                <a:solidFill>
                  <a:srgbClr val="172126"/>
                </a:solidFill>
              </a:rPr>
              <a:t>Jira hace visible el avance y la responsabilidad de cada elemento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FB52DC-2F00-4D4F-BAE8-CDBBFB22C979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3008" y="1619250"/>
            <a:ext cx="7099834" cy="461962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636B007-CFC5-4D9F-8506-9AE40EB04643}"/>
              </a:ext>
            </a:extLst>
          </p:cNvPr>
          <p:cNvSpPr>
            <a:spLocks noGrp="1"/>
          </p:cNvSpPr>
          <p:nvPr/>
        </p:nvSpPr>
        <p:spPr>
          <a:xfrm>
            <a:off x="8572500" y="19526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7A1F2B"/>
                </a:solidFill>
              </a:defRPr>
            </a:pPr>
            <a:r>
              <a:rPr sz="1575" b="1">
                <a:solidFill>
                  <a:srgbClr val="7A1F2B"/>
                </a:solidFill>
              </a:rPr>
              <a:t>Flujo de trabajo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E5E86ED-0FEF-4F4A-A856-4848DDB19BDA}"/>
              </a:ext>
            </a:extLst>
          </p:cNvPr>
          <p:cNvSpPr>
            <a:spLocks noGrp="1"/>
          </p:cNvSpPr>
          <p:nvPr/>
        </p:nvSpPr>
        <p:spPr>
          <a:xfrm>
            <a:off x="8572500" y="24765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7A1F2B"/>
                </a:solidFill>
              </a:defRPr>
            </a:pPr>
            <a:r>
              <a:rPr sz="1350" b="1">
                <a:solidFill>
                  <a:srgbClr val="7A1F2B"/>
                </a:solidFill>
              </a:rPr>
              <a:t>01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D8B2D30-CB50-433F-88D8-E609EC3B1702}"/>
              </a:ext>
            </a:extLst>
          </p:cNvPr>
          <p:cNvSpPr>
            <a:spLocks noGrp="1"/>
          </p:cNvSpPr>
          <p:nvPr/>
        </p:nvSpPr>
        <p:spPr>
          <a:xfrm>
            <a:off x="9191625" y="24765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To Do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133034E-905D-4B74-9221-3D090737FAF6}"/>
              </a:ext>
            </a:extLst>
          </p:cNvPr>
          <p:cNvSpPr>
            <a:spLocks noGrp="1"/>
          </p:cNvSpPr>
          <p:nvPr/>
        </p:nvSpPr>
        <p:spPr>
          <a:xfrm>
            <a:off x="8572500" y="31051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7A1F2B"/>
                </a:solidFill>
              </a:defRPr>
            </a:pPr>
            <a:r>
              <a:rPr sz="1350" b="1">
                <a:solidFill>
                  <a:srgbClr val="7A1F2B"/>
                </a:solidFill>
              </a:rPr>
              <a:t>02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57096A6-9261-4F78-87E1-B59E6A77E4AE}"/>
              </a:ext>
            </a:extLst>
          </p:cNvPr>
          <p:cNvSpPr>
            <a:spLocks noGrp="1"/>
          </p:cNvSpPr>
          <p:nvPr/>
        </p:nvSpPr>
        <p:spPr>
          <a:xfrm>
            <a:off x="9191625" y="31051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In Progress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8403F88-0AE6-4054-A50E-A372C17ACCE9}"/>
              </a:ext>
            </a:extLst>
          </p:cNvPr>
          <p:cNvSpPr>
            <a:spLocks noGrp="1"/>
          </p:cNvSpPr>
          <p:nvPr/>
        </p:nvSpPr>
        <p:spPr>
          <a:xfrm>
            <a:off x="8572500" y="37338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7A1F2B"/>
                </a:solidFill>
              </a:defRPr>
            </a:pPr>
            <a:r>
              <a:rPr sz="1350" b="1">
                <a:solidFill>
                  <a:srgbClr val="7A1F2B"/>
                </a:solidFill>
              </a:rPr>
              <a:t>03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CE2D74F-C133-47B8-9343-B5891E2B54B7}"/>
              </a:ext>
            </a:extLst>
          </p:cNvPr>
          <p:cNvSpPr>
            <a:spLocks noGrp="1"/>
          </p:cNvSpPr>
          <p:nvPr/>
        </p:nvSpPr>
        <p:spPr>
          <a:xfrm>
            <a:off x="9191625" y="37338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In Review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BB9FEF3-7842-4923-BAE5-F0BE40315949}"/>
              </a:ext>
            </a:extLst>
          </p:cNvPr>
          <p:cNvSpPr>
            <a:spLocks noGrp="1"/>
          </p:cNvSpPr>
          <p:nvPr/>
        </p:nvSpPr>
        <p:spPr>
          <a:xfrm>
            <a:off x="8572500" y="43624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7A1F2B"/>
                </a:solidFill>
              </a:defRPr>
            </a:pPr>
            <a:r>
              <a:rPr sz="1350" b="1">
                <a:solidFill>
                  <a:srgbClr val="7A1F2B"/>
                </a:solidFill>
              </a:rPr>
              <a:t>04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373FAA6-A8E4-4BC3-B387-D2DF6373FC64}"/>
              </a:ext>
            </a:extLst>
          </p:cNvPr>
          <p:cNvSpPr>
            <a:spLocks noGrp="1"/>
          </p:cNvSpPr>
          <p:nvPr/>
        </p:nvSpPr>
        <p:spPr>
          <a:xfrm>
            <a:off x="9191625" y="4362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Done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F9686A5-2499-44F4-AD64-BA716BEF7973}"/>
              </a:ext>
            </a:extLst>
          </p:cNvPr>
          <p:cNvSpPr>
            <a:spLocks noGrp="1"/>
          </p:cNvSpPr>
          <p:nvPr/>
        </p:nvSpPr>
        <p:spPr>
          <a:xfrm>
            <a:off x="8477250" y="5095875"/>
            <a:ext cx="2762250" cy="742950"/>
          </a:xfrm>
          <a:prstGeom prst="rect">
            <a:avLst/>
          </a:prstGeom>
          <a:solidFill>
            <a:srgbClr val="F3ECEE"/>
          </a:solidFill>
          <a:ln w="9525"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76CC8EA-7396-4483-B81B-88689A816299}"/>
              </a:ext>
            </a:extLst>
          </p:cNvPr>
          <p:cNvSpPr>
            <a:spLocks noGrp="1"/>
          </p:cNvSpPr>
          <p:nvPr/>
        </p:nvSpPr>
        <p:spPr>
          <a:xfrm>
            <a:off x="8667750" y="5219700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Cada tarjeta conserva épica, responsable, estado y evidencia.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788378C-40BF-4C45-9D7F-74A98C788790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D6970"/>
                </a:solidFill>
              </a:defRPr>
            </a:pPr>
            <a:r>
              <a:rPr sz="900" b="0">
                <a:solidFill>
                  <a:srgbClr val="5D6970"/>
                </a:solidFill>
              </a:rPr>
              <a:t>Ingeniería de Software II  •  Grupo IV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E43BCA7-EAFA-4670-B500-BAC610493797}"/>
              </a:ext>
            </a:extLst>
          </p:cNvPr>
          <p:cNvSpPr>
            <a:spLocks noGrp="1"/>
          </p:cNvSpPr>
          <p:nvPr/>
        </p:nvSpPr>
        <p:spPr>
          <a:xfrm>
            <a:off x="11125200" y="65246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D6970"/>
                </a:solidFill>
              </a:defRPr>
            </a:pPr>
            <a:r>
              <a:rPr sz="900" b="1">
                <a:solidFill>
                  <a:srgbClr val="5D69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36321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BEAB3ADD-DAB7-4A2B-8A39-5ADC534B4183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7A1F2B"/>
                </a:solidFill>
              </a:defRPr>
            </a:pPr>
            <a:r>
              <a:rPr sz="1125" b="1">
                <a:solidFill>
                  <a:srgbClr val="7A1F2B"/>
                </a:solidFill>
              </a:rPr>
              <a:t>BARRIO SOLIDARIO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B8E1333-C958-4C4A-9E34-3CD099D8F811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72126"/>
                </a:solidFill>
              </a:defRPr>
            </a:pPr>
            <a:r>
              <a:rPr sz="3000" b="1">
                <a:solidFill>
                  <a:srgbClr val="172126"/>
                </a:solidFill>
              </a:rPr>
              <a:t>El dominio conecta identidad, colaboración, atención y control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0DB3458-31FF-4277-BA1F-AD8C18085E30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150" y="1571625"/>
            <a:ext cx="7315200" cy="45720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4BEDF17-8A53-4222-BDEA-5293519CBC15}"/>
              </a:ext>
            </a:extLst>
          </p:cNvPr>
          <p:cNvSpPr>
            <a:spLocks noGrp="1"/>
          </p:cNvSpPr>
          <p:nvPr/>
        </p:nvSpPr>
        <p:spPr>
          <a:xfrm>
            <a:off x="8572500" y="1714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7A1F2B"/>
                </a:solidFill>
              </a:defRPr>
            </a:pPr>
            <a:r>
              <a:rPr sz="1500" b="1">
                <a:solidFill>
                  <a:srgbClr val="7A1F2B"/>
                </a:solidFill>
              </a:rPr>
              <a:t>Identidad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444FCF-EC9A-47ED-8CAB-C8A2F54B636B}"/>
              </a:ext>
            </a:extLst>
          </p:cNvPr>
          <p:cNvSpPr>
            <a:spLocks noGrp="1"/>
          </p:cNvSpPr>
          <p:nvPr/>
        </p:nvSpPr>
        <p:spPr>
          <a:xfrm>
            <a:off x="8572500" y="20193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72126"/>
                </a:solidFill>
              </a:defRPr>
            </a:pPr>
            <a:r>
              <a:rPr sz="1350" b="0">
                <a:solidFill>
                  <a:srgbClr val="172126"/>
                </a:solidFill>
              </a:rPr>
              <a:t>Usuarios, roles y perfiles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9FE9CD-60DB-4DA8-81EF-16B7A34B97BF}"/>
              </a:ext>
            </a:extLst>
          </p:cNvPr>
          <p:cNvSpPr>
            <a:spLocks noGrp="1"/>
          </p:cNvSpPr>
          <p:nvPr/>
        </p:nvSpPr>
        <p:spPr>
          <a:xfrm>
            <a:off x="8572500" y="27146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7A1F2B"/>
                </a:solidFill>
              </a:defRPr>
            </a:pPr>
            <a:r>
              <a:rPr sz="1500" b="1">
                <a:solidFill>
                  <a:srgbClr val="7A1F2B"/>
                </a:solidFill>
              </a:rPr>
              <a:t>Colaboración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0F80CDD-7D97-4021-8C5A-055BAA6E1A5C}"/>
              </a:ext>
            </a:extLst>
          </p:cNvPr>
          <p:cNvSpPr>
            <a:spLocks noGrp="1"/>
          </p:cNvSpPr>
          <p:nvPr/>
        </p:nvSpPr>
        <p:spPr>
          <a:xfrm>
            <a:off x="8572500" y="301942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72126"/>
                </a:solidFill>
              </a:defRPr>
            </a:pPr>
            <a:r>
              <a:rPr sz="1350" b="0">
                <a:solidFill>
                  <a:srgbClr val="172126"/>
                </a:solidFill>
              </a:rPr>
              <a:t>Solicitudes, postulaciones y asignaciones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BAA45E-E01A-4950-B476-F789B9803091}"/>
              </a:ext>
            </a:extLst>
          </p:cNvPr>
          <p:cNvSpPr>
            <a:spLocks noGrp="1"/>
          </p:cNvSpPr>
          <p:nvPr/>
        </p:nvSpPr>
        <p:spPr>
          <a:xfrm>
            <a:off x="8572500" y="37147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7A1F2B"/>
                </a:solidFill>
              </a:defRPr>
            </a:pPr>
            <a:r>
              <a:rPr sz="1500" b="1">
                <a:solidFill>
                  <a:srgbClr val="7A1F2B"/>
                </a:solidFill>
              </a:rPr>
              <a:t>Atención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F7F658-DA0C-4441-9C43-6FD52E52EAE4}"/>
              </a:ext>
            </a:extLst>
          </p:cNvPr>
          <p:cNvSpPr>
            <a:spLocks noGrp="1"/>
          </p:cNvSpPr>
          <p:nvPr/>
        </p:nvSpPr>
        <p:spPr>
          <a:xfrm>
            <a:off x="8572500" y="401955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72126"/>
                </a:solidFill>
              </a:defRPr>
            </a:pPr>
            <a:r>
              <a:rPr sz="1350" b="0">
                <a:solidFill>
                  <a:srgbClr val="172126"/>
                </a:solidFill>
              </a:rPr>
              <a:t>Jornadas, mensajes y notificaciones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178FDC8-A7B5-4A3B-A3D9-C9E1EC1EDBD0}"/>
              </a:ext>
            </a:extLst>
          </p:cNvPr>
          <p:cNvSpPr>
            <a:spLocks noGrp="1"/>
          </p:cNvSpPr>
          <p:nvPr/>
        </p:nvSpPr>
        <p:spPr>
          <a:xfrm>
            <a:off x="8572500" y="47148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7A1F2B"/>
                </a:solidFill>
              </a:defRPr>
            </a:pPr>
            <a:r>
              <a:rPr sz="1500" b="1">
                <a:solidFill>
                  <a:srgbClr val="7A1F2B"/>
                </a:solidFill>
              </a:rPr>
              <a:t>Control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B170E6-DE6F-4DB9-9487-C2D1A928DAFC}"/>
              </a:ext>
            </a:extLst>
          </p:cNvPr>
          <p:cNvSpPr>
            <a:spLocks noGrp="1"/>
          </p:cNvSpPr>
          <p:nvPr/>
        </p:nvSpPr>
        <p:spPr>
          <a:xfrm>
            <a:off x="8572500" y="501967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72126"/>
                </a:solidFill>
              </a:defRPr>
            </a:pPr>
            <a:r>
              <a:rPr sz="1350" b="0">
                <a:solidFill>
                  <a:srgbClr val="172126"/>
                </a:solidFill>
              </a:rPr>
              <a:t>Evaluaciones, incidencias y auditoría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57E1DFA-9E8F-48A8-996E-275C8C33F966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D6970"/>
                </a:solidFill>
              </a:defRPr>
            </a:pPr>
            <a:r>
              <a:rPr sz="900" b="0">
                <a:solidFill>
                  <a:srgbClr val="5D6970"/>
                </a:solidFill>
              </a:rPr>
              <a:t>Ingeniería de Software II  •  Grupo IV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5B56A9A-F807-4CD1-B885-C0096096D19A}"/>
              </a:ext>
            </a:extLst>
          </p:cNvPr>
          <p:cNvSpPr>
            <a:spLocks noGrp="1"/>
          </p:cNvSpPr>
          <p:nvPr/>
        </p:nvSpPr>
        <p:spPr>
          <a:xfrm>
            <a:off x="11125200" y="65246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D6970"/>
                </a:solidFill>
              </a:defRPr>
            </a:pPr>
            <a:r>
              <a:rPr sz="900" b="1">
                <a:solidFill>
                  <a:srgbClr val="5D69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76416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3A8F3A5B-A7AA-4680-8FD2-9F7BE31DEFE5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7A1F2B"/>
                </a:solidFill>
              </a:defRPr>
            </a:pPr>
            <a:r>
              <a:rPr sz="1125" b="1">
                <a:solidFill>
                  <a:srgbClr val="7A1F2B"/>
                </a:solidFill>
              </a:rPr>
              <a:t>BARRIO SOLIDARIO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0E821D1-9C29-412A-B74B-3D56CA660C71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72126"/>
                </a:solidFill>
              </a:defRPr>
            </a:pPr>
            <a:r>
              <a:rPr sz="3000" b="1">
                <a:solidFill>
                  <a:srgbClr val="172126"/>
                </a:solidFill>
              </a:rPr>
              <a:t>La planificación deja un camino trazable para construir y validar el producto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018D798-1211-4743-8954-DFD2121FD17D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19050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7F2D8BD-FFD5-437B-8A23-0E1F40C0B94D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7A1F2B"/>
                </a:solidFill>
              </a:defRPr>
            </a:pPr>
            <a:r>
              <a:rPr sz="2100" b="1">
                <a:solidFill>
                  <a:srgbClr val="7A1F2B"/>
                </a:solidFill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F9CDBE5-118D-46DC-8938-A91B7C9BF216}"/>
              </a:ext>
            </a:extLst>
          </p:cNvPr>
          <p:cNvSpPr>
            <a:spLocks noGrp="1"/>
          </p:cNvSpPr>
          <p:nvPr/>
        </p:nvSpPr>
        <p:spPr>
          <a:xfrm>
            <a:off x="1428750" y="17621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Definido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F9C4AEF-5ABF-44F3-B973-AB2838025532}"/>
              </a:ext>
            </a:extLst>
          </p:cNvPr>
          <p:cNvSpPr>
            <a:spLocks noGrp="1"/>
          </p:cNvSpPr>
          <p:nvPr/>
        </p:nvSpPr>
        <p:spPr>
          <a:xfrm>
            <a:off x="3619500" y="1762125"/>
            <a:ext cx="666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D6970"/>
                </a:solidFill>
              </a:defRPr>
            </a:pPr>
            <a:r>
              <a:rPr sz="1575" b="0">
                <a:solidFill>
                  <a:srgbClr val="5D6970"/>
                </a:solidFill>
              </a:rPr>
              <a:t>Acta, visión, requisitos y actores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4B81BBA-BFCB-4E9D-B1DD-AAEDA6E55EFB}"/>
              </a:ext>
            </a:extLst>
          </p:cNvPr>
          <p:cNvSpPr>
            <a:spLocks noGrp="1"/>
          </p:cNvSpPr>
          <p:nvPr/>
        </p:nvSpPr>
        <p:spPr>
          <a:xfrm>
            <a:off x="1428750" y="2314575"/>
            <a:ext cx="9144000" cy="9525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5A6165-B8D8-4E73-8850-920ABD6F61BE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7A1F2B"/>
                </a:solidFill>
              </a:defRPr>
            </a:pPr>
            <a:r>
              <a:rPr sz="2100" b="1">
                <a:solidFill>
                  <a:srgbClr val="7A1F2B"/>
                </a:solidFill>
              </a:rPr>
              <a:t>02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87C469-251A-4632-836A-4F31A412315A}"/>
              </a:ext>
            </a:extLst>
          </p:cNvPr>
          <p:cNvSpPr>
            <a:spLocks noGrp="1"/>
          </p:cNvSpPr>
          <p:nvPr/>
        </p:nvSpPr>
        <p:spPr>
          <a:xfrm>
            <a:off x="1428750" y="26193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Organizado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44BED8B-6E45-4C2D-9B5C-AA68FC3A614B}"/>
              </a:ext>
            </a:extLst>
          </p:cNvPr>
          <p:cNvSpPr>
            <a:spLocks noGrp="1"/>
          </p:cNvSpPr>
          <p:nvPr/>
        </p:nvSpPr>
        <p:spPr>
          <a:xfrm>
            <a:off x="3619500" y="2619375"/>
            <a:ext cx="666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D6970"/>
                </a:solidFill>
              </a:defRPr>
            </a:pPr>
            <a:r>
              <a:rPr sz="1575" b="0">
                <a:solidFill>
                  <a:srgbClr val="5D6970"/>
                </a:solidFill>
              </a:rPr>
              <a:t>9 épicas, 60 HU y responsables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DA52841-99A6-4BAF-816D-5A76EAF58CFB}"/>
              </a:ext>
            </a:extLst>
          </p:cNvPr>
          <p:cNvSpPr>
            <a:spLocks noGrp="1"/>
          </p:cNvSpPr>
          <p:nvPr/>
        </p:nvSpPr>
        <p:spPr>
          <a:xfrm>
            <a:off x="1428750" y="3171825"/>
            <a:ext cx="9144000" cy="9525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A150D52-1DFC-44F8-BD3D-A427C473D4E9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7A1F2B"/>
                </a:solidFill>
              </a:defRPr>
            </a:pPr>
            <a:r>
              <a:rPr sz="2100" b="1">
                <a:solidFill>
                  <a:srgbClr val="7A1F2B"/>
                </a:solidFill>
              </a:rPr>
              <a:t>03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6590201-5FAB-4887-A4AE-97DCBDFFEBBE}"/>
              </a:ext>
            </a:extLst>
          </p:cNvPr>
          <p:cNvSpPr>
            <a:spLocks noGrp="1"/>
          </p:cNvSpPr>
          <p:nvPr/>
        </p:nvSpPr>
        <p:spPr>
          <a:xfrm>
            <a:off x="1428750" y="34766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Planificado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87245B1-553B-4BED-8929-7FFA1A7C7847}"/>
              </a:ext>
            </a:extLst>
          </p:cNvPr>
          <p:cNvSpPr>
            <a:spLocks noGrp="1"/>
          </p:cNvSpPr>
          <p:nvPr/>
        </p:nvSpPr>
        <p:spPr>
          <a:xfrm>
            <a:off x="3619500" y="3476625"/>
            <a:ext cx="666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D6970"/>
                </a:solidFill>
              </a:defRPr>
            </a:pPr>
            <a:r>
              <a:rPr sz="1575" b="0">
                <a:solidFill>
                  <a:srgbClr val="5D6970"/>
                </a:solidFill>
              </a:rPr>
              <a:t>4 sprints y unidades de trabajo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DAB75E8-73D6-4B03-B88A-2DF2D66FD762}"/>
              </a:ext>
            </a:extLst>
          </p:cNvPr>
          <p:cNvSpPr>
            <a:spLocks noGrp="1"/>
          </p:cNvSpPr>
          <p:nvPr/>
        </p:nvSpPr>
        <p:spPr>
          <a:xfrm>
            <a:off x="1428750" y="4029075"/>
            <a:ext cx="9144000" cy="9525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6833291-7C70-49D6-BEEE-4DBA645DA958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7A1F2B"/>
                </a:solidFill>
              </a:defRPr>
            </a:pPr>
            <a:r>
              <a:rPr sz="2100" b="1">
                <a:solidFill>
                  <a:srgbClr val="7A1F2B"/>
                </a:solidFill>
              </a:rPr>
              <a:t>04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13B70C3-44B6-481A-846F-00EF6A0335A2}"/>
              </a:ext>
            </a:extLst>
          </p:cNvPr>
          <p:cNvSpPr>
            <a:spLocks noGrp="1"/>
          </p:cNvSpPr>
          <p:nvPr/>
        </p:nvSpPr>
        <p:spPr>
          <a:xfrm>
            <a:off x="1428750" y="43338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Controlado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6A9F02F-3368-415A-BDC3-47AEA60FD9E9}"/>
              </a:ext>
            </a:extLst>
          </p:cNvPr>
          <p:cNvSpPr>
            <a:spLocks noGrp="1"/>
          </p:cNvSpPr>
          <p:nvPr/>
        </p:nvSpPr>
        <p:spPr>
          <a:xfrm>
            <a:off x="3619500" y="4333875"/>
            <a:ext cx="666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D6970"/>
                </a:solidFill>
              </a:defRPr>
            </a:pPr>
            <a:r>
              <a:rPr sz="1575" b="0">
                <a:solidFill>
                  <a:srgbClr val="5D6970"/>
                </a:solidFill>
              </a:rPr>
              <a:t>Jira, criterios de aceptación y evidencias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A504F47-0198-4E85-A772-E8B3AAD612CC}"/>
              </a:ext>
            </a:extLst>
          </p:cNvPr>
          <p:cNvSpPr>
            <a:spLocks noGrp="1"/>
          </p:cNvSpPr>
          <p:nvPr/>
        </p:nvSpPr>
        <p:spPr>
          <a:xfrm>
            <a:off x="1428750" y="4886325"/>
            <a:ext cx="9144000" cy="9525"/>
          </a:xfrm>
          <a:prstGeom prst="rect">
            <a:avLst/>
          </a:prstGeom>
          <a:solidFill>
            <a:srgbClr val="C8CDD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AF656C1-5009-4ADA-845E-0042ACD9748D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10572750" cy="666750"/>
          </a:xfrm>
          <a:prstGeom prst="rect">
            <a:avLst/>
          </a:prstGeom>
          <a:solidFill>
            <a:srgbClr val="7A1F2B"/>
          </a:solidFill>
          <a:ln w="9525"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3319EF3-34D1-4D27-9325-88306A82BC85}"/>
              </a:ext>
            </a:extLst>
          </p:cNvPr>
          <p:cNvSpPr>
            <a:spLocks noGrp="1"/>
          </p:cNvSpPr>
          <p:nvPr/>
        </p:nvSpPr>
        <p:spPr>
          <a:xfrm>
            <a:off x="952500" y="5514975"/>
            <a:ext cx="10039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Siguiente objetivo: convertir las historias priorizadas en incrementos funcionales, probados y demostrables.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B772F36-FF64-4866-9323-60EBB61C2EB6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D6970"/>
                </a:solidFill>
              </a:defRPr>
            </a:pPr>
            <a:r>
              <a:rPr sz="900" b="0">
                <a:solidFill>
                  <a:srgbClr val="5D6970"/>
                </a:solidFill>
              </a:rPr>
              <a:t>Ingeniería de Software II  •  Grupo IV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AFCD545-0FAB-4143-A532-3795355DDCCC}"/>
              </a:ext>
            </a:extLst>
          </p:cNvPr>
          <p:cNvSpPr>
            <a:spLocks noGrp="1"/>
          </p:cNvSpPr>
          <p:nvPr/>
        </p:nvSpPr>
        <p:spPr>
          <a:xfrm>
            <a:off x="11125200" y="65246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D6970"/>
                </a:solidFill>
              </a:defRPr>
            </a:pPr>
            <a:r>
              <a:rPr sz="900" b="1">
                <a:solidFill>
                  <a:srgbClr val="5D697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719390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899</Words>
  <Application>Microsoft Office PowerPoint</Application>
  <DocSecurity>0</DocSecurity>
  <PresentationFormat>Panorámica</PresentationFormat>
  <Paragraphs>203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Alex Mendoza</cp:lastModifiedBy>
  <cp:revision>1</cp:revision>
  <dcterms:created xsi:type="dcterms:W3CDTF">2026-08-21T21:30:11Z</dcterms:created>
  <dcterms:modified xsi:type="dcterms:W3CDTF">2026-08-21T21:33:44Z</dcterms:modified>
</cp:coreProperties>
</file>